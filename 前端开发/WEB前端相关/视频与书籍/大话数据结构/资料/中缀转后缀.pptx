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1" Type="http://schemas.openxmlformats.org/officeDocument/2006/relationships/tableStyles" Target="tableStyles.xml"/><Relationship Id="rId30" Type="http://schemas.openxmlformats.org/officeDocument/2006/relationships/viewProps" Target="viewProps.xml"/><Relationship Id="rId3" Type="http://schemas.openxmlformats.org/officeDocument/2006/relationships/slide" Target="slides/slide1.xml"/><Relationship Id="rId29" Type="http://schemas.openxmlformats.org/officeDocument/2006/relationships/presProps" Target="presProps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86774" y="1778438"/>
            <a:ext cx="4873574" cy="8239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1186774" y="2665379"/>
            <a:ext cx="4873574" cy="352428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56938" y="1778438"/>
            <a:ext cx="4897576" cy="8239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56938" y="2665379"/>
            <a:ext cx="4897576" cy="352428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4165349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457201"/>
            <a:ext cx="6172200" cy="54038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4165349" cy="3811588"/>
          </a:xfrm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838200" y="365125"/>
            <a:ext cx="10515600" cy="58118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矩形 3"/>
          <p:cNvSpPr/>
          <p:nvPr/>
        </p:nvSpPr>
        <p:spPr>
          <a:xfrm>
            <a:off x="6830060" y="2145030"/>
            <a:ext cx="1907540" cy="416941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2912110" y="2145030"/>
            <a:ext cx="1907540" cy="416941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8669655" y="298450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2</a:t>
            </a:r>
            <a:endParaRPr lang="en-US" altLang="zh-CN"/>
          </a:p>
        </p:txBody>
      </p:sp>
      <p:sp>
        <p:nvSpPr>
          <p:cNvPr id="7" name="文本框 6"/>
          <p:cNvSpPr txBox="1"/>
          <p:nvPr/>
        </p:nvSpPr>
        <p:spPr>
          <a:xfrm>
            <a:off x="8961120" y="276860"/>
            <a:ext cx="32004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+</a:t>
            </a:r>
            <a:endParaRPr lang="en-US" altLang="zh-CN"/>
          </a:p>
        </p:txBody>
      </p:sp>
      <p:sp>
        <p:nvSpPr>
          <p:cNvPr id="8" name="文本框 7"/>
          <p:cNvSpPr txBox="1"/>
          <p:nvPr/>
        </p:nvSpPr>
        <p:spPr>
          <a:xfrm>
            <a:off x="9280525" y="298450"/>
            <a:ext cx="1530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(</a:t>
            </a:r>
            <a:endParaRPr lang="en-US" altLang="zh-CN"/>
          </a:p>
        </p:txBody>
      </p:sp>
      <p:sp>
        <p:nvSpPr>
          <p:cNvPr id="9" name="文本框 8"/>
          <p:cNvSpPr txBox="1"/>
          <p:nvPr/>
        </p:nvSpPr>
        <p:spPr>
          <a:xfrm>
            <a:off x="9558655" y="298450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5</a:t>
            </a:r>
            <a:endParaRPr lang="en-US" altLang="zh-CN"/>
          </a:p>
        </p:txBody>
      </p:sp>
      <p:sp>
        <p:nvSpPr>
          <p:cNvPr id="10" name="文本框 9"/>
          <p:cNvSpPr txBox="1"/>
          <p:nvPr/>
        </p:nvSpPr>
        <p:spPr>
          <a:xfrm>
            <a:off x="9868535" y="298450"/>
            <a:ext cx="2717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-</a:t>
            </a:r>
            <a:endParaRPr lang="en-US" altLang="zh-CN"/>
          </a:p>
        </p:txBody>
      </p:sp>
      <p:sp>
        <p:nvSpPr>
          <p:cNvPr id="11" name="文本框 10"/>
          <p:cNvSpPr txBox="1"/>
          <p:nvPr/>
        </p:nvSpPr>
        <p:spPr>
          <a:xfrm>
            <a:off x="10140315" y="298450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1</a:t>
            </a:r>
            <a:endParaRPr lang="en-US" altLang="zh-CN"/>
          </a:p>
        </p:txBody>
      </p:sp>
      <p:sp>
        <p:nvSpPr>
          <p:cNvPr id="12" name="文本框 11"/>
          <p:cNvSpPr txBox="1"/>
          <p:nvPr/>
        </p:nvSpPr>
        <p:spPr>
          <a:xfrm>
            <a:off x="10450195" y="298450"/>
            <a:ext cx="24193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)</a:t>
            </a:r>
            <a:endParaRPr lang="en-US" altLang="zh-CN"/>
          </a:p>
        </p:txBody>
      </p:sp>
      <p:sp>
        <p:nvSpPr>
          <p:cNvPr id="13" name="文本框 12"/>
          <p:cNvSpPr txBox="1"/>
          <p:nvPr/>
        </p:nvSpPr>
        <p:spPr>
          <a:xfrm>
            <a:off x="10692130" y="374650"/>
            <a:ext cx="26352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*</a:t>
            </a:r>
            <a:endParaRPr lang="en-US" altLang="zh-CN"/>
          </a:p>
        </p:txBody>
      </p:sp>
      <p:sp>
        <p:nvSpPr>
          <p:cNvPr id="14" name="文本框 13"/>
          <p:cNvSpPr txBox="1"/>
          <p:nvPr/>
        </p:nvSpPr>
        <p:spPr>
          <a:xfrm>
            <a:off x="10955655" y="298450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4</a:t>
            </a:r>
            <a:endParaRPr lang="en-US" altLang="zh-CN"/>
          </a:p>
        </p:txBody>
      </p:sp>
      <p:sp>
        <p:nvSpPr>
          <p:cNvPr id="15" name="文本框 14"/>
          <p:cNvSpPr txBox="1"/>
          <p:nvPr/>
        </p:nvSpPr>
        <p:spPr>
          <a:xfrm>
            <a:off x="2145665" y="3662045"/>
            <a:ext cx="33083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A</a:t>
            </a:r>
            <a:endParaRPr lang="en-US" altLang="zh-CN"/>
          </a:p>
        </p:txBody>
      </p:sp>
      <p:sp>
        <p:nvSpPr>
          <p:cNvPr id="16" name="文本框 15"/>
          <p:cNvSpPr txBox="1"/>
          <p:nvPr/>
        </p:nvSpPr>
        <p:spPr>
          <a:xfrm>
            <a:off x="8995410" y="3585845"/>
            <a:ext cx="31432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T</a:t>
            </a:r>
            <a:endParaRPr lang="en-US" altLang="zh-CN"/>
          </a:p>
        </p:txBody>
      </p:sp>
      <p:sp>
        <p:nvSpPr>
          <p:cNvPr id="17" name="文本框 16"/>
          <p:cNvSpPr txBox="1"/>
          <p:nvPr/>
        </p:nvSpPr>
        <p:spPr>
          <a:xfrm>
            <a:off x="205105" y="151130"/>
            <a:ext cx="2983865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000" b="1">
                <a:latin typeface="STHeiti Regular" panose="02010600040101010101" charset="-122"/>
                <a:ea typeface="STHeiti Regular" panose="02010600040101010101" charset="-122"/>
              </a:rPr>
              <a:t>中缀表达式转后缀表达式</a:t>
            </a:r>
            <a:endParaRPr lang="zh-CN" altLang="en-US" sz="2000" b="1">
              <a:latin typeface="STHeiti Regular" panose="02010600040101010101" charset="-122"/>
              <a:ea typeface="STHeiti Regular" panose="02010600040101010101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11227435" y="286385"/>
            <a:ext cx="32004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+</a:t>
            </a:r>
            <a:endParaRPr lang="en-US" altLang="zh-CN"/>
          </a:p>
        </p:txBody>
      </p:sp>
      <p:sp>
        <p:nvSpPr>
          <p:cNvPr id="19" name="文本框 18"/>
          <p:cNvSpPr txBox="1"/>
          <p:nvPr/>
        </p:nvSpPr>
        <p:spPr>
          <a:xfrm>
            <a:off x="11547475" y="314960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6</a:t>
            </a:r>
            <a:endParaRPr lang="en-US" altLang="zh-C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矩形 3"/>
          <p:cNvSpPr/>
          <p:nvPr/>
        </p:nvSpPr>
        <p:spPr>
          <a:xfrm>
            <a:off x="6830060" y="2145030"/>
            <a:ext cx="1907540" cy="416941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2912110" y="2145030"/>
            <a:ext cx="1907540" cy="416941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3710940" y="5793105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2</a:t>
            </a:r>
            <a:endParaRPr lang="en-US" altLang="zh-CN"/>
          </a:p>
        </p:txBody>
      </p:sp>
      <p:sp>
        <p:nvSpPr>
          <p:cNvPr id="7" name="文本框 6"/>
          <p:cNvSpPr txBox="1"/>
          <p:nvPr/>
        </p:nvSpPr>
        <p:spPr>
          <a:xfrm>
            <a:off x="8961120" y="276860"/>
            <a:ext cx="32004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+</a:t>
            </a:r>
            <a:endParaRPr lang="en-US" altLang="zh-CN"/>
          </a:p>
        </p:txBody>
      </p:sp>
      <p:sp>
        <p:nvSpPr>
          <p:cNvPr id="8" name="文本框 7"/>
          <p:cNvSpPr txBox="1"/>
          <p:nvPr/>
        </p:nvSpPr>
        <p:spPr>
          <a:xfrm>
            <a:off x="9280525" y="298450"/>
            <a:ext cx="1530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(</a:t>
            </a:r>
            <a:endParaRPr lang="en-US" altLang="zh-CN"/>
          </a:p>
        </p:txBody>
      </p:sp>
      <p:sp>
        <p:nvSpPr>
          <p:cNvPr id="9" name="文本框 8"/>
          <p:cNvSpPr txBox="1"/>
          <p:nvPr/>
        </p:nvSpPr>
        <p:spPr>
          <a:xfrm>
            <a:off x="9558655" y="298450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5</a:t>
            </a:r>
            <a:endParaRPr lang="en-US" altLang="zh-CN"/>
          </a:p>
        </p:txBody>
      </p:sp>
      <p:sp>
        <p:nvSpPr>
          <p:cNvPr id="10" name="文本框 9"/>
          <p:cNvSpPr txBox="1"/>
          <p:nvPr/>
        </p:nvSpPr>
        <p:spPr>
          <a:xfrm>
            <a:off x="9868535" y="298450"/>
            <a:ext cx="2717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-</a:t>
            </a:r>
            <a:endParaRPr lang="en-US" altLang="zh-CN"/>
          </a:p>
        </p:txBody>
      </p:sp>
      <p:sp>
        <p:nvSpPr>
          <p:cNvPr id="11" name="文本框 10"/>
          <p:cNvSpPr txBox="1"/>
          <p:nvPr/>
        </p:nvSpPr>
        <p:spPr>
          <a:xfrm>
            <a:off x="10140315" y="298450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1</a:t>
            </a:r>
            <a:endParaRPr lang="en-US" altLang="zh-CN"/>
          </a:p>
        </p:txBody>
      </p:sp>
      <p:sp>
        <p:nvSpPr>
          <p:cNvPr id="12" name="文本框 11"/>
          <p:cNvSpPr txBox="1"/>
          <p:nvPr/>
        </p:nvSpPr>
        <p:spPr>
          <a:xfrm>
            <a:off x="10450195" y="298450"/>
            <a:ext cx="24193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)</a:t>
            </a:r>
            <a:endParaRPr lang="en-US" altLang="zh-CN"/>
          </a:p>
        </p:txBody>
      </p:sp>
      <p:sp>
        <p:nvSpPr>
          <p:cNvPr id="13" name="文本框 12"/>
          <p:cNvSpPr txBox="1"/>
          <p:nvPr/>
        </p:nvSpPr>
        <p:spPr>
          <a:xfrm>
            <a:off x="10692130" y="374650"/>
            <a:ext cx="26352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*</a:t>
            </a:r>
            <a:endParaRPr lang="en-US" altLang="zh-CN"/>
          </a:p>
        </p:txBody>
      </p:sp>
      <p:sp>
        <p:nvSpPr>
          <p:cNvPr id="14" name="文本框 13"/>
          <p:cNvSpPr txBox="1"/>
          <p:nvPr/>
        </p:nvSpPr>
        <p:spPr>
          <a:xfrm>
            <a:off x="10955655" y="298450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4</a:t>
            </a:r>
            <a:endParaRPr lang="en-US" altLang="zh-CN"/>
          </a:p>
        </p:txBody>
      </p:sp>
      <p:sp>
        <p:nvSpPr>
          <p:cNvPr id="15" name="文本框 14"/>
          <p:cNvSpPr txBox="1"/>
          <p:nvPr/>
        </p:nvSpPr>
        <p:spPr>
          <a:xfrm>
            <a:off x="2145665" y="3662045"/>
            <a:ext cx="33083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A</a:t>
            </a:r>
            <a:endParaRPr lang="en-US" altLang="zh-CN"/>
          </a:p>
        </p:txBody>
      </p:sp>
      <p:sp>
        <p:nvSpPr>
          <p:cNvPr id="16" name="文本框 15"/>
          <p:cNvSpPr txBox="1"/>
          <p:nvPr/>
        </p:nvSpPr>
        <p:spPr>
          <a:xfrm>
            <a:off x="8995410" y="3585845"/>
            <a:ext cx="31432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T</a:t>
            </a:r>
            <a:endParaRPr lang="en-US" altLang="zh-CN"/>
          </a:p>
        </p:txBody>
      </p:sp>
      <p:sp>
        <p:nvSpPr>
          <p:cNvPr id="17" name="文本框 16"/>
          <p:cNvSpPr txBox="1"/>
          <p:nvPr/>
        </p:nvSpPr>
        <p:spPr>
          <a:xfrm>
            <a:off x="205105" y="151130"/>
            <a:ext cx="2983865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000" b="1">
                <a:latin typeface="STHeiti Regular" panose="02010600040101010101" charset="-122"/>
                <a:ea typeface="STHeiti Regular" panose="02010600040101010101" charset="-122"/>
              </a:rPr>
              <a:t>中缀表达式转后缀表达式</a:t>
            </a:r>
            <a:endParaRPr lang="zh-CN" altLang="en-US" sz="2000" b="1">
              <a:latin typeface="STHeiti Regular" panose="02010600040101010101" charset="-122"/>
              <a:ea typeface="STHeiti Regular" panose="02010600040101010101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11227435" y="286385"/>
            <a:ext cx="32004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+</a:t>
            </a:r>
            <a:endParaRPr lang="en-US" altLang="zh-CN"/>
          </a:p>
        </p:txBody>
      </p:sp>
      <p:sp>
        <p:nvSpPr>
          <p:cNvPr id="19" name="文本框 18"/>
          <p:cNvSpPr txBox="1"/>
          <p:nvPr/>
        </p:nvSpPr>
        <p:spPr>
          <a:xfrm>
            <a:off x="11547475" y="314960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6</a:t>
            </a:r>
            <a:endParaRPr lang="en-US" altLang="zh-C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矩形 3"/>
          <p:cNvSpPr/>
          <p:nvPr/>
        </p:nvSpPr>
        <p:spPr>
          <a:xfrm>
            <a:off x="6830060" y="2145030"/>
            <a:ext cx="1907540" cy="416941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2912110" y="2145030"/>
            <a:ext cx="1907540" cy="416941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3710940" y="5793105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2</a:t>
            </a:r>
            <a:endParaRPr lang="en-US" altLang="zh-CN"/>
          </a:p>
        </p:txBody>
      </p:sp>
      <p:sp>
        <p:nvSpPr>
          <p:cNvPr id="7" name="文本框 6"/>
          <p:cNvSpPr txBox="1"/>
          <p:nvPr/>
        </p:nvSpPr>
        <p:spPr>
          <a:xfrm>
            <a:off x="7701915" y="5867400"/>
            <a:ext cx="32004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+</a:t>
            </a:r>
            <a:endParaRPr lang="en-US" altLang="zh-CN"/>
          </a:p>
        </p:txBody>
      </p:sp>
      <p:sp>
        <p:nvSpPr>
          <p:cNvPr id="8" name="文本框 7"/>
          <p:cNvSpPr txBox="1"/>
          <p:nvPr/>
        </p:nvSpPr>
        <p:spPr>
          <a:xfrm>
            <a:off x="9280525" y="298450"/>
            <a:ext cx="1530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(</a:t>
            </a:r>
            <a:endParaRPr lang="en-US" altLang="zh-CN"/>
          </a:p>
        </p:txBody>
      </p:sp>
      <p:sp>
        <p:nvSpPr>
          <p:cNvPr id="9" name="文本框 8"/>
          <p:cNvSpPr txBox="1"/>
          <p:nvPr/>
        </p:nvSpPr>
        <p:spPr>
          <a:xfrm>
            <a:off x="9558655" y="298450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5</a:t>
            </a:r>
            <a:endParaRPr lang="en-US" altLang="zh-CN"/>
          </a:p>
        </p:txBody>
      </p:sp>
      <p:sp>
        <p:nvSpPr>
          <p:cNvPr id="10" name="文本框 9"/>
          <p:cNvSpPr txBox="1"/>
          <p:nvPr/>
        </p:nvSpPr>
        <p:spPr>
          <a:xfrm>
            <a:off x="9868535" y="298450"/>
            <a:ext cx="2717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-</a:t>
            </a:r>
            <a:endParaRPr lang="en-US" altLang="zh-CN"/>
          </a:p>
        </p:txBody>
      </p:sp>
      <p:sp>
        <p:nvSpPr>
          <p:cNvPr id="11" name="文本框 10"/>
          <p:cNvSpPr txBox="1"/>
          <p:nvPr/>
        </p:nvSpPr>
        <p:spPr>
          <a:xfrm>
            <a:off x="10140315" y="298450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1</a:t>
            </a:r>
            <a:endParaRPr lang="en-US" altLang="zh-CN"/>
          </a:p>
        </p:txBody>
      </p:sp>
      <p:sp>
        <p:nvSpPr>
          <p:cNvPr id="12" name="文本框 11"/>
          <p:cNvSpPr txBox="1"/>
          <p:nvPr/>
        </p:nvSpPr>
        <p:spPr>
          <a:xfrm>
            <a:off x="10450195" y="298450"/>
            <a:ext cx="24193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)</a:t>
            </a:r>
            <a:endParaRPr lang="en-US" altLang="zh-CN"/>
          </a:p>
        </p:txBody>
      </p:sp>
      <p:sp>
        <p:nvSpPr>
          <p:cNvPr id="13" name="文本框 12"/>
          <p:cNvSpPr txBox="1"/>
          <p:nvPr/>
        </p:nvSpPr>
        <p:spPr>
          <a:xfrm>
            <a:off x="10692130" y="374650"/>
            <a:ext cx="26352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*</a:t>
            </a:r>
            <a:endParaRPr lang="en-US" altLang="zh-CN"/>
          </a:p>
        </p:txBody>
      </p:sp>
      <p:sp>
        <p:nvSpPr>
          <p:cNvPr id="14" name="文本框 13"/>
          <p:cNvSpPr txBox="1"/>
          <p:nvPr/>
        </p:nvSpPr>
        <p:spPr>
          <a:xfrm>
            <a:off x="10955655" y="298450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4</a:t>
            </a:r>
            <a:endParaRPr lang="en-US" altLang="zh-CN"/>
          </a:p>
        </p:txBody>
      </p:sp>
      <p:sp>
        <p:nvSpPr>
          <p:cNvPr id="15" name="文本框 14"/>
          <p:cNvSpPr txBox="1"/>
          <p:nvPr/>
        </p:nvSpPr>
        <p:spPr>
          <a:xfrm>
            <a:off x="2145665" y="3662045"/>
            <a:ext cx="33083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A</a:t>
            </a:r>
            <a:endParaRPr lang="en-US" altLang="zh-CN"/>
          </a:p>
        </p:txBody>
      </p:sp>
      <p:sp>
        <p:nvSpPr>
          <p:cNvPr id="16" name="文本框 15"/>
          <p:cNvSpPr txBox="1"/>
          <p:nvPr/>
        </p:nvSpPr>
        <p:spPr>
          <a:xfrm>
            <a:off x="8995410" y="3585845"/>
            <a:ext cx="31432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T</a:t>
            </a:r>
            <a:endParaRPr lang="en-US" altLang="zh-CN"/>
          </a:p>
        </p:txBody>
      </p:sp>
      <p:sp>
        <p:nvSpPr>
          <p:cNvPr id="17" name="文本框 16"/>
          <p:cNvSpPr txBox="1"/>
          <p:nvPr/>
        </p:nvSpPr>
        <p:spPr>
          <a:xfrm>
            <a:off x="205105" y="151130"/>
            <a:ext cx="2983865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000" b="1">
                <a:latin typeface="STHeiti Regular" panose="02010600040101010101" charset="-122"/>
                <a:ea typeface="STHeiti Regular" panose="02010600040101010101" charset="-122"/>
              </a:rPr>
              <a:t>中缀表达式转后缀表达式</a:t>
            </a:r>
            <a:endParaRPr lang="zh-CN" altLang="en-US" sz="2000" b="1">
              <a:latin typeface="STHeiti Regular" panose="02010600040101010101" charset="-122"/>
              <a:ea typeface="STHeiti Regular" panose="02010600040101010101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11227435" y="286385"/>
            <a:ext cx="32004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+</a:t>
            </a:r>
            <a:endParaRPr lang="en-US" altLang="zh-CN"/>
          </a:p>
        </p:txBody>
      </p:sp>
      <p:sp>
        <p:nvSpPr>
          <p:cNvPr id="19" name="文本框 18"/>
          <p:cNvSpPr txBox="1"/>
          <p:nvPr/>
        </p:nvSpPr>
        <p:spPr>
          <a:xfrm>
            <a:off x="11547475" y="314960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6</a:t>
            </a:r>
            <a:endParaRPr lang="en-US" altLang="zh-C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矩形 3"/>
          <p:cNvSpPr/>
          <p:nvPr/>
        </p:nvSpPr>
        <p:spPr>
          <a:xfrm>
            <a:off x="6830060" y="2145030"/>
            <a:ext cx="1907540" cy="416941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2912110" y="2145030"/>
            <a:ext cx="1907540" cy="416941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3710940" y="5793105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2</a:t>
            </a:r>
            <a:endParaRPr lang="en-US" altLang="zh-CN"/>
          </a:p>
        </p:txBody>
      </p:sp>
      <p:sp>
        <p:nvSpPr>
          <p:cNvPr id="7" name="文本框 6"/>
          <p:cNvSpPr txBox="1"/>
          <p:nvPr/>
        </p:nvSpPr>
        <p:spPr>
          <a:xfrm>
            <a:off x="7701915" y="5867400"/>
            <a:ext cx="32004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+</a:t>
            </a:r>
            <a:endParaRPr lang="en-US" altLang="zh-CN"/>
          </a:p>
        </p:txBody>
      </p:sp>
      <p:sp>
        <p:nvSpPr>
          <p:cNvPr id="8" name="文本框 7"/>
          <p:cNvSpPr txBox="1"/>
          <p:nvPr/>
        </p:nvSpPr>
        <p:spPr>
          <a:xfrm>
            <a:off x="7718425" y="5462905"/>
            <a:ext cx="1530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(</a:t>
            </a:r>
            <a:endParaRPr lang="en-US" altLang="zh-CN"/>
          </a:p>
        </p:txBody>
      </p:sp>
      <p:sp>
        <p:nvSpPr>
          <p:cNvPr id="9" name="文本框 8"/>
          <p:cNvSpPr txBox="1"/>
          <p:nvPr/>
        </p:nvSpPr>
        <p:spPr>
          <a:xfrm>
            <a:off x="9558655" y="298450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5</a:t>
            </a:r>
            <a:endParaRPr lang="en-US" altLang="zh-CN"/>
          </a:p>
        </p:txBody>
      </p:sp>
      <p:sp>
        <p:nvSpPr>
          <p:cNvPr id="10" name="文本框 9"/>
          <p:cNvSpPr txBox="1"/>
          <p:nvPr/>
        </p:nvSpPr>
        <p:spPr>
          <a:xfrm>
            <a:off x="9868535" y="298450"/>
            <a:ext cx="2717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-</a:t>
            </a:r>
            <a:endParaRPr lang="en-US" altLang="zh-CN"/>
          </a:p>
        </p:txBody>
      </p:sp>
      <p:sp>
        <p:nvSpPr>
          <p:cNvPr id="11" name="文本框 10"/>
          <p:cNvSpPr txBox="1"/>
          <p:nvPr/>
        </p:nvSpPr>
        <p:spPr>
          <a:xfrm>
            <a:off x="10140315" y="298450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1</a:t>
            </a:r>
            <a:endParaRPr lang="en-US" altLang="zh-CN"/>
          </a:p>
        </p:txBody>
      </p:sp>
      <p:sp>
        <p:nvSpPr>
          <p:cNvPr id="12" name="文本框 11"/>
          <p:cNvSpPr txBox="1"/>
          <p:nvPr/>
        </p:nvSpPr>
        <p:spPr>
          <a:xfrm>
            <a:off x="10450195" y="298450"/>
            <a:ext cx="24193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)</a:t>
            </a:r>
            <a:endParaRPr lang="en-US" altLang="zh-CN"/>
          </a:p>
        </p:txBody>
      </p:sp>
      <p:sp>
        <p:nvSpPr>
          <p:cNvPr id="13" name="文本框 12"/>
          <p:cNvSpPr txBox="1"/>
          <p:nvPr/>
        </p:nvSpPr>
        <p:spPr>
          <a:xfrm>
            <a:off x="10692130" y="374650"/>
            <a:ext cx="26352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*</a:t>
            </a:r>
            <a:endParaRPr lang="en-US" altLang="zh-CN"/>
          </a:p>
        </p:txBody>
      </p:sp>
      <p:sp>
        <p:nvSpPr>
          <p:cNvPr id="14" name="文本框 13"/>
          <p:cNvSpPr txBox="1"/>
          <p:nvPr/>
        </p:nvSpPr>
        <p:spPr>
          <a:xfrm>
            <a:off x="10955655" y="298450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4</a:t>
            </a:r>
            <a:endParaRPr lang="en-US" altLang="zh-CN"/>
          </a:p>
        </p:txBody>
      </p:sp>
      <p:sp>
        <p:nvSpPr>
          <p:cNvPr id="15" name="文本框 14"/>
          <p:cNvSpPr txBox="1"/>
          <p:nvPr/>
        </p:nvSpPr>
        <p:spPr>
          <a:xfrm>
            <a:off x="2145665" y="3662045"/>
            <a:ext cx="33083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A</a:t>
            </a:r>
            <a:endParaRPr lang="en-US" altLang="zh-CN"/>
          </a:p>
        </p:txBody>
      </p:sp>
      <p:sp>
        <p:nvSpPr>
          <p:cNvPr id="16" name="文本框 15"/>
          <p:cNvSpPr txBox="1"/>
          <p:nvPr/>
        </p:nvSpPr>
        <p:spPr>
          <a:xfrm>
            <a:off x="8995410" y="3585845"/>
            <a:ext cx="31432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T</a:t>
            </a:r>
            <a:endParaRPr lang="en-US" altLang="zh-CN"/>
          </a:p>
        </p:txBody>
      </p:sp>
      <p:sp>
        <p:nvSpPr>
          <p:cNvPr id="17" name="文本框 16"/>
          <p:cNvSpPr txBox="1"/>
          <p:nvPr/>
        </p:nvSpPr>
        <p:spPr>
          <a:xfrm>
            <a:off x="205105" y="151130"/>
            <a:ext cx="2983865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000" b="1">
                <a:latin typeface="STHeiti Regular" panose="02010600040101010101" charset="-122"/>
                <a:ea typeface="STHeiti Regular" panose="02010600040101010101" charset="-122"/>
              </a:rPr>
              <a:t>中缀表达式转后缀表达式</a:t>
            </a:r>
            <a:endParaRPr lang="zh-CN" altLang="en-US" sz="2000" b="1">
              <a:latin typeface="STHeiti Regular" panose="02010600040101010101" charset="-122"/>
              <a:ea typeface="STHeiti Regular" panose="02010600040101010101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11227435" y="286385"/>
            <a:ext cx="32004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+</a:t>
            </a:r>
            <a:endParaRPr lang="en-US" altLang="zh-CN"/>
          </a:p>
        </p:txBody>
      </p:sp>
      <p:sp>
        <p:nvSpPr>
          <p:cNvPr id="19" name="文本框 18"/>
          <p:cNvSpPr txBox="1"/>
          <p:nvPr/>
        </p:nvSpPr>
        <p:spPr>
          <a:xfrm>
            <a:off x="11547475" y="314960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6</a:t>
            </a:r>
            <a:endParaRPr lang="en-US" altLang="zh-C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矩形 3"/>
          <p:cNvSpPr/>
          <p:nvPr/>
        </p:nvSpPr>
        <p:spPr>
          <a:xfrm>
            <a:off x="6830060" y="2145030"/>
            <a:ext cx="1907540" cy="416941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2912110" y="2145030"/>
            <a:ext cx="1907540" cy="416941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3710940" y="5793105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2</a:t>
            </a:r>
            <a:endParaRPr lang="en-US" altLang="zh-CN"/>
          </a:p>
        </p:txBody>
      </p:sp>
      <p:sp>
        <p:nvSpPr>
          <p:cNvPr id="7" name="文本框 6"/>
          <p:cNvSpPr txBox="1"/>
          <p:nvPr/>
        </p:nvSpPr>
        <p:spPr>
          <a:xfrm>
            <a:off x="7701915" y="5867400"/>
            <a:ext cx="32004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+</a:t>
            </a:r>
            <a:endParaRPr lang="en-US" altLang="zh-CN"/>
          </a:p>
        </p:txBody>
      </p:sp>
      <p:sp>
        <p:nvSpPr>
          <p:cNvPr id="8" name="文本框 7"/>
          <p:cNvSpPr txBox="1"/>
          <p:nvPr/>
        </p:nvSpPr>
        <p:spPr>
          <a:xfrm>
            <a:off x="7718425" y="5462905"/>
            <a:ext cx="1530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(</a:t>
            </a:r>
            <a:endParaRPr lang="en-US" altLang="zh-CN"/>
          </a:p>
        </p:txBody>
      </p:sp>
      <p:sp>
        <p:nvSpPr>
          <p:cNvPr id="9" name="文本框 8"/>
          <p:cNvSpPr txBox="1"/>
          <p:nvPr/>
        </p:nvSpPr>
        <p:spPr>
          <a:xfrm>
            <a:off x="3710940" y="5424805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5</a:t>
            </a:r>
            <a:endParaRPr lang="en-US" altLang="zh-CN"/>
          </a:p>
        </p:txBody>
      </p:sp>
      <p:sp>
        <p:nvSpPr>
          <p:cNvPr id="10" name="文本框 9"/>
          <p:cNvSpPr txBox="1"/>
          <p:nvPr/>
        </p:nvSpPr>
        <p:spPr>
          <a:xfrm>
            <a:off x="9868535" y="298450"/>
            <a:ext cx="2717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-</a:t>
            </a:r>
            <a:endParaRPr lang="en-US" altLang="zh-CN"/>
          </a:p>
        </p:txBody>
      </p:sp>
      <p:sp>
        <p:nvSpPr>
          <p:cNvPr id="11" name="文本框 10"/>
          <p:cNvSpPr txBox="1"/>
          <p:nvPr/>
        </p:nvSpPr>
        <p:spPr>
          <a:xfrm>
            <a:off x="10140315" y="298450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1</a:t>
            </a:r>
            <a:endParaRPr lang="en-US" altLang="zh-CN"/>
          </a:p>
        </p:txBody>
      </p:sp>
      <p:sp>
        <p:nvSpPr>
          <p:cNvPr id="12" name="文本框 11"/>
          <p:cNvSpPr txBox="1"/>
          <p:nvPr/>
        </p:nvSpPr>
        <p:spPr>
          <a:xfrm>
            <a:off x="10450195" y="298450"/>
            <a:ext cx="24193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)</a:t>
            </a:r>
            <a:endParaRPr lang="en-US" altLang="zh-CN"/>
          </a:p>
        </p:txBody>
      </p:sp>
      <p:sp>
        <p:nvSpPr>
          <p:cNvPr id="13" name="文本框 12"/>
          <p:cNvSpPr txBox="1"/>
          <p:nvPr/>
        </p:nvSpPr>
        <p:spPr>
          <a:xfrm>
            <a:off x="10692130" y="374650"/>
            <a:ext cx="26352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*</a:t>
            </a:r>
            <a:endParaRPr lang="en-US" altLang="zh-CN"/>
          </a:p>
        </p:txBody>
      </p:sp>
      <p:sp>
        <p:nvSpPr>
          <p:cNvPr id="14" name="文本框 13"/>
          <p:cNvSpPr txBox="1"/>
          <p:nvPr/>
        </p:nvSpPr>
        <p:spPr>
          <a:xfrm>
            <a:off x="10955655" y="298450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4</a:t>
            </a:r>
            <a:endParaRPr lang="en-US" altLang="zh-CN"/>
          </a:p>
        </p:txBody>
      </p:sp>
      <p:sp>
        <p:nvSpPr>
          <p:cNvPr id="15" name="文本框 14"/>
          <p:cNvSpPr txBox="1"/>
          <p:nvPr/>
        </p:nvSpPr>
        <p:spPr>
          <a:xfrm>
            <a:off x="2145665" y="3662045"/>
            <a:ext cx="33083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A</a:t>
            </a:r>
            <a:endParaRPr lang="en-US" altLang="zh-CN"/>
          </a:p>
        </p:txBody>
      </p:sp>
      <p:sp>
        <p:nvSpPr>
          <p:cNvPr id="16" name="文本框 15"/>
          <p:cNvSpPr txBox="1"/>
          <p:nvPr/>
        </p:nvSpPr>
        <p:spPr>
          <a:xfrm>
            <a:off x="8995410" y="3585845"/>
            <a:ext cx="31432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T</a:t>
            </a:r>
            <a:endParaRPr lang="en-US" altLang="zh-CN"/>
          </a:p>
        </p:txBody>
      </p:sp>
      <p:sp>
        <p:nvSpPr>
          <p:cNvPr id="17" name="文本框 16"/>
          <p:cNvSpPr txBox="1"/>
          <p:nvPr/>
        </p:nvSpPr>
        <p:spPr>
          <a:xfrm>
            <a:off x="205105" y="151130"/>
            <a:ext cx="2983865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000" b="1">
                <a:latin typeface="STHeiti Regular" panose="02010600040101010101" charset="-122"/>
                <a:ea typeface="STHeiti Regular" panose="02010600040101010101" charset="-122"/>
              </a:rPr>
              <a:t>中缀表达式转后缀表达式</a:t>
            </a:r>
            <a:endParaRPr lang="zh-CN" altLang="en-US" sz="2000" b="1">
              <a:latin typeface="STHeiti Regular" panose="02010600040101010101" charset="-122"/>
              <a:ea typeface="STHeiti Regular" panose="02010600040101010101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11227435" y="286385"/>
            <a:ext cx="32004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+</a:t>
            </a:r>
            <a:endParaRPr lang="en-US" altLang="zh-CN"/>
          </a:p>
        </p:txBody>
      </p:sp>
      <p:sp>
        <p:nvSpPr>
          <p:cNvPr id="19" name="文本框 18"/>
          <p:cNvSpPr txBox="1"/>
          <p:nvPr/>
        </p:nvSpPr>
        <p:spPr>
          <a:xfrm>
            <a:off x="11547475" y="314960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6</a:t>
            </a:r>
            <a:endParaRPr lang="en-US" altLang="zh-C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矩形 3"/>
          <p:cNvSpPr/>
          <p:nvPr/>
        </p:nvSpPr>
        <p:spPr>
          <a:xfrm>
            <a:off x="6830060" y="2145030"/>
            <a:ext cx="1907540" cy="416941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2912110" y="2145030"/>
            <a:ext cx="1907540" cy="416941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3710940" y="5793105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2</a:t>
            </a:r>
            <a:endParaRPr lang="en-US" altLang="zh-CN"/>
          </a:p>
        </p:txBody>
      </p:sp>
      <p:sp>
        <p:nvSpPr>
          <p:cNvPr id="7" name="文本框 6"/>
          <p:cNvSpPr txBox="1"/>
          <p:nvPr/>
        </p:nvSpPr>
        <p:spPr>
          <a:xfrm>
            <a:off x="7701915" y="5867400"/>
            <a:ext cx="32004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+</a:t>
            </a:r>
            <a:endParaRPr lang="en-US" altLang="zh-CN"/>
          </a:p>
        </p:txBody>
      </p:sp>
      <p:sp>
        <p:nvSpPr>
          <p:cNvPr id="8" name="文本框 7"/>
          <p:cNvSpPr txBox="1"/>
          <p:nvPr/>
        </p:nvSpPr>
        <p:spPr>
          <a:xfrm>
            <a:off x="7718425" y="5462905"/>
            <a:ext cx="1530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(</a:t>
            </a:r>
            <a:endParaRPr lang="en-US" altLang="zh-CN"/>
          </a:p>
        </p:txBody>
      </p:sp>
      <p:sp>
        <p:nvSpPr>
          <p:cNvPr id="9" name="文本框 8"/>
          <p:cNvSpPr txBox="1"/>
          <p:nvPr/>
        </p:nvSpPr>
        <p:spPr>
          <a:xfrm>
            <a:off x="3710940" y="5424805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5</a:t>
            </a:r>
            <a:endParaRPr lang="en-US" altLang="zh-CN"/>
          </a:p>
        </p:txBody>
      </p:sp>
      <p:sp>
        <p:nvSpPr>
          <p:cNvPr id="10" name="文本框 9"/>
          <p:cNvSpPr txBox="1"/>
          <p:nvPr/>
        </p:nvSpPr>
        <p:spPr>
          <a:xfrm>
            <a:off x="7701915" y="5056505"/>
            <a:ext cx="2717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-</a:t>
            </a:r>
            <a:endParaRPr lang="en-US" altLang="zh-CN"/>
          </a:p>
        </p:txBody>
      </p:sp>
      <p:sp>
        <p:nvSpPr>
          <p:cNvPr id="11" name="文本框 10"/>
          <p:cNvSpPr txBox="1"/>
          <p:nvPr/>
        </p:nvSpPr>
        <p:spPr>
          <a:xfrm>
            <a:off x="10140315" y="298450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1</a:t>
            </a:r>
            <a:endParaRPr lang="en-US" altLang="zh-CN"/>
          </a:p>
        </p:txBody>
      </p:sp>
      <p:sp>
        <p:nvSpPr>
          <p:cNvPr id="12" name="文本框 11"/>
          <p:cNvSpPr txBox="1"/>
          <p:nvPr/>
        </p:nvSpPr>
        <p:spPr>
          <a:xfrm>
            <a:off x="10450195" y="298450"/>
            <a:ext cx="24193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)</a:t>
            </a:r>
            <a:endParaRPr lang="en-US" altLang="zh-CN"/>
          </a:p>
        </p:txBody>
      </p:sp>
      <p:sp>
        <p:nvSpPr>
          <p:cNvPr id="13" name="文本框 12"/>
          <p:cNvSpPr txBox="1"/>
          <p:nvPr/>
        </p:nvSpPr>
        <p:spPr>
          <a:xfrm>
            <a:off x="10692130" y="374650"/>
            <a:ext cx="26352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*</a:t>
            </a:r>
            <a:endParaRPr lang="en-US" altLang="zh-CN"/>
          </a:p>
        </p:txBody>
      </p:sp>
      <p:sp>
        <p:nvSpPr>
          <p:cNvPr id="14" name="文本框 13"/>
          <p:cNvSpPr txBox="1"/>
          <p:nvPr/>
        </p:nvSpPr>
        <p:spPr>
          <a:xfrm>
            <a:off x="10955655" y="298450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4</a:t>
            </a:r>
            <a:endParaRPr lang="en-US" altLang="zh-CN"/>
          </a:p>
        </p:txBody>
      </p:sp>
      <p:sp>
        <p:nvSpPr>
          <p:cNvPr id="15" name="文本框 14"/>
          <p:cNvSpPr txBox="1"/>
          <p:nvPr/>
        </p:nvSpPr>
        <p:spPr>
          <a:xfrm>
            <a:off x="2145665" y="3662045"/>
            <a:ext cx="33083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A</a:t>
            </a:r>
            <a:endParaRPr lang="en-US" altLang="zh-CN"/>
          </a:p>
        </p:txBody>
      </p:sp>
      <p:sp>
        <p:nvSpPr>
          <p:cNvPr id="16" name="文本框 15"/>
          <p:cNvSpPr txBox="1"/>
          <p:nvPr/>
        </p:nvSpPr>
        <p:spPr>
          <a:xfrm>
            <a:off x="8995410" y="3585845"/>
            <a:ext cx="31432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T</a:t>
            </a:r>
            <a:endParaRPr lang="en-US" altLang="zh-CN"/>
          </a:p>
        </p:txBody>
      </p:sp>
      <p:sp>
        <p:nvSpPr>
          <p:cNvPr id="17" name="文本框 16"/>
          <p:cNvSpPr txBox="1"/>
          <p:nvPr/>
        </p:nvSpPr>
        <p:spPr>
          <a:xfrm>
            <a:off x="205105" y="151130"/>
            <a:ext cx="2983865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000" b="1">
                <a:latin typeface="STHeiti Regular" panose="02010600040101010101" charset="-122"/>
                <a:ea typeface="STHeiti Regular" panose="02010600040101010101" charset="-122"/>
              </a:rPr>
              <a:t>中缀表达式转后缀表达式</a:t>
            </a:r>
            <a:endParaRPr lang="zh-CN" altLang="en-US" sz="2000" b="1">
              <a:latin typeface="STHeiti Regular" panose="02010600040101010101" charset="-122"/>
              <a:ea typeface="STHeiti Regular" panose="02010600040101010101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11227435" y="286385"/>
            <a:ext cx="32004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+</a:t>
            </a:r>
            <a:endParaRPr lang="en-US" altLang="zh-CN"/>
          </a:p>
        </p:txBody>
      </p:sp>
      <p:sp>
        <p:nvSpPr>
          <p:cNvPr id="19" name="文本框 18"/>
          <p:cNvSpPr txBox="1"/>
          <p:nvPr/>
        </p:nvSpPr>
        <p:spPr>
          <a:xfrm>
            <a:off x="11547475" y="314960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6</a:t>
            </a:r>
            <a:endParaRPr lang="en-US" altLang="zh-C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矩形 3"/>
          <p:cNvSpPr/>
          <p:nvPr/>
        </p:nvSpPr>
        <p:spPr>
          <a:xfrm>
            <a:off x="6830060" y="2145030"/>
            <a:ext cx="1907540" cy="416941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2912110" y="2145030"/>
            <a:ext cx="1907540" cy="416941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3710940" y="5793105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2</a:t>
            </a:r>
            <a:endParaRPr lang="en-US" altLang="zh-CN"/>
          </a:p>
        </p:txBody>
      </p:sp>
      <p:sp>
        <p:nvSpPr>
          <p:cNvPr id="7" name="文本框 6"/>
          <p:cNvSpPr txBox="1"/>
          <p:nvPr/>
        </p:nvSpPr>
        <p:spPr>
          <a:xfrm>
            <a:off x="7701915" y="5867400"/>
            <a:ext cx="32004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+</a:t>
            </a:r>
            <a:endParaRPr lang="en-US" altLang="zh-CN"/>
          </a:p>
        </p:txBody>
      </p:sp>
      <p:sp>
        <p:nvSpPr>
          <p:cNvPr id="8" name="文本框 7"/>
          <p:cNvSpPr txBox="1"/>
          <p:nvPr/>
        </p:nvSpPr>
        <p:spPr>
          <a:xfrm>
            <a:off x="7718425" y="5462905"/>
            <a:ext cx="1530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(</a:t>
            </a:r>
            <a:endParaRPr lang="en-US" altLang="zh-CN"/>
          </a:p>
        </p:txBody>
      </p:sp>
      <p:sp>
        <p:nvSpPr>
          <p:cNvPr id="9" name="文本框 8"/>
          <p:cNvSpPr txBox="1"/>
          <p:nvPr/>
        </p:nvSpPr>
        <p:spPr>
          <a:xfrm>
            <a:off x="3710940" y="5424805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5</a:t>
            </a:r>
            <a:endParaRPr lang="en-US" altLang="zh-CN"/>
          </a:p>
        </p:txBody>
      </p:sp>
      <p:sp>
        <p:nvSpPr>
          <p:cNvPr id="10" name="文本框 9"/>
          <p:cNvSpPr txBox="1"/>
          <p:nvPr/>
        </p:nvSpPr>
        <p:spPr>
          <a:xfrm>
            <a:off x="7701915" y="5056505"/>
            <a:ext cx="2717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-</a:t>
            </a:r>
            <a:endParaRPr lang="en-US" altLang="zh-CN"/>
          </a:p>
        </p:txBody>
      </p:sp>
      <p:sp>
        <p:nvSpPr>
          <p:cNvPr id="11" name="文本框 10"/>
          <p:cNvSpPr txBox="1"/>
          <p:nvPr/>
        </p:nvSpPr>
        <p:spPr>
          <a:xfrm>
            <a:off x="3710940" y="5094605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1</a:t>
            </a:r>
            <a:endParaRPr lang="en-US" altLang="zh-CN"/>
          </a:p>
        </p:txBody>
      </p:sp>
      <p:sp>
        <p:nvSpPr>
          <p:cNvPr id="12" name="文本框 11"/>
          <p:cNvSpPr txBox="1"/>
          <p:nvPr/>
        </p:nvSpPr>
        <p:spPr>
          <a:xfrm>
            <a:off x="10450195" y="298450"/>
            <a:ext cx="24193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)</a:t>
            </a:r>
            <a:endParaRPr lang="en-US" altLang="zh-CN"/>
          </a:p>
        </p:txBody>
      </p:sp>
      <p:sp>
        <p:nvSpPr>
          <p:cNvPr id="13" name="文本框 12"/>
          <p:cNvSpPr txBox="1"/>
          <p:nvPr/>
        </p:nvSpPr>
        <p:spPr>
          <a:xfrm>
            <a:off x="10692130" y="374650"/>
            <a:ext cx="26352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*</a:t>
            </a:r>
            <a:endParaRPr lang="en-US" altLang="zh-CN"/>
          </a:p>
        </p:txBody>
      </p:sp>
      <p:sp>
        <p:nvSpPr>
          <p:cNvPr id="14" name="文本框 13"/>
          <p:cNvSpPr txBox="1"/>
          <p:nvPr/>
        </p:nvSpPr>
        <p:spPr>
          <a:xfrm>
            <a:off x="10955655" y="298450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4</a:t>
            </a:r>
            <a:endParaRPr lang="en-US" altLang="zh-CN"/>
          </a:p>
        </p:txBody>
      </p:sp>
      <p:sp>
        <p:nvSpPr>
          <p:cNvPr id="15" name="文本框 14"/>
          <p:cNvSpPr txBox="1"/>
          <p:nvPr/>
        </p:nvSpPr>
        <p:spPr>
          <a:xfrm>
            <a:off x="2145665" y="3662045"/>
            <a:ext cx="33083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A</a:t>
            </a:r>
            <a:endParaRPr lang="en-US" altLang="zh-CN"/>
          </a:p>
        </p:txBody>
      </p:sp>
      <p:sp>
        <p:nvSpPr>
          <p:cNvPr id="16" name="文本框 15"/>
          <p:cNvSpPr txBox="1"/>
          <p:nvPr/>
        </p:nvSpPr>
        <p:spPr>
          <a:xfrm>
            <a:off x="8995410" y="3585845"/>
            <a:ext cx="31432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T</a:t>
            </a:r>
            <a:endParaRPr lang="en-US" altLang="zh-CN"/>
          </a:p>
        </p:txBody>
      </p:sp>
      <p:sp>
        <p:nvSpPr>
          <p:cNvPr id="17" name="文本框 16"/>
          <p:cNvSpPr txBox="1"/>
          <p:nvPr/>
        </p:nvSpPr>
        <p:spPr>
          <a:xfrm>
            <a:off x="205105" y="151130"/>
            <a:ext cx="2983865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000" b="1">
                <a:latin typeface="STHeiti Regular" panose="02010600040101010101" charset="-122"/>
                <a:ea typeface="STHeiti Regular" panose="02010600040101010101" charset="-122"/>
              </a:rPr>
              <a:t>中缀表达式转后缀表达式</a:t>
            </a:r>
            <a:endParaRPr lang="zh-CN" altLang="en-US" sz="2000" b="1">
              <a:latin typeface="STHeiti Regular" panose="02010600040101010101" charset="-122"/>
              <a:ea typeface="STHeiti Regular" panose="02010600040101010101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11227435" y="286385"/>
            <a:ext cx="32004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+</a:t>
            </a:r>
            <a:endParaRPr lang="en-US" altLang="zh-CN"/>
          </a:p>
        </p:txBody>
      </p:sp>
      <p:sp>
        <p:nvSpPr>
          <p:cNvPr id="19" name="文本框 18"/>
          <p:cNvSpPr txBox="1"/>
          <p:nvPr/>
        </p:nvSpPr>
        <p:spPr>
          <a:xfrm>
            <a:off x="11547475" y="314960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6</a:t>
            </a:r>
            <a:endParaRPr lang="en-US" altLang="zh-C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矩形 3"/>
          <p:cNvSpPr/>
          <p:nvPr/>
        </p:nvSpPr>
        <p:spPr>
          <a:xfrm>
            <a:off x="6830060" y="2145030"/>
            <a:ext cx="1907540" cy="416941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2912110" y="2145030"/>
            <a:ext cx="1907540" cy="416941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3710940" y="5793105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2</a:t>
            </a:r>
            <a:endParaRPr lang="en-US" altLang="zh-CN"/>
          </a:p>
        </p:txBody>
      </p:sp>
      <p:sp>
        <p:nvSpPr>
          <p:cNvPr id="7" name="文本框 6"/>
          <p:cNvSpPr txBox="1"/>
          <p:nvPr/>
        </p:nvSpPr>
        <p:spPr>
          <a:xfrm>
            <a:off x="7701915" y="5867400"/>
            <a:ext cx="32004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+</a:t>
            </a:r>
            <a:endParaRPr lang="en-US" altLang="zh-CN"/>
          </a:p>
        </p:txBody>
      </p:sp>
      <p:sp>
        <p:nvSpPr>
          <p:cNvPr id="9" name="文本框 8"/>
          <p:cNvSpPr txBox="1"/>
          <p:nvPr/>
        </p:nvSpPr>
        <p:spPr>
          <a:xfrm>
            <a:off x="3710940" y="5424805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5</a:t>
            </a:r>
            <a:endParaRPr lang="en-US" altLang="zh-CN"/>
          </a:p>
        </p:txBody>
      </p:sp>
      <p:sp>
        <p:nvSpPr>
          <p:cNvPr id="10" name="文本框 9"/>
          <p:cNvSpPr txBox="1"/>
          <p:nvPr/>
        </p:nvSpPr>
        <p:spPr>
          <a:xfrm>
            <a:off x="3729990" y="4783455"/>
            <a:ext cx="2717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-</a:t>
            </a:r>
            <a:endParaRPr lang="en-US" altLang="zh-CN"/>
          </a:p>
        </p:txBody>
      </p:sp>
      <p:sp>
        <p:nvSpPr>
          <p:cNvPr id="11" name="文本框 10"/>
          <p:cNvSpPr txBox="1"/>
          <p:nvPr/>
        </p:nvSpPr>
        <p:spPr>
          <a:xfrm>
            <a:off x="3710940" y="5094605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1</a:t>
            </a:r>
            <a:endParaRPr lang="en-US" altLang="zh-CN"/>
          </a:p>
        </p:txBody>
      </p:sp>
      <p:sp>
        <p:nvSpPr>
          <p:cNvPr id="13" name="文本框 12"/>
          <p:cNvSpPr txBox="1"/>
          <p:nvPr/>
        </p:nvSpPr>
        <p:spPr>
          <a:xfrm>
            <a:off x="10692130" y="374650"/>
            <a:ext cx="26352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*</a:t>
            </a:r>
            <a:endParaRPr lang="en-US" altLang="zh-CN"/>
          </a:p>
        </p:txBody>
      </p:sp>
      <p:sp>
        <p:nvSpPr>
          <p:cNvPr id="14" name="文本框 13"/>
          <p:cNvSpPr txBox="1"/>
          <p:nvPr/>
        </p:nvSpPr>
        <p:spPr>
          <a:xfrm>
            <a:off x="10955655" y="298450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4</a:t>
            </a:r>
            <a:endParaRPr lang="en-US" altLang="zh-CN"/>
          </a:p>
        </p:txBody>
      </p:sp>
      <p:sp>
        <p:nvSpPr>
          <p:cNvPr id="15" name="文本框 14"/>
          <p:cNvSpPr txBox="1"/>
          <p:nvPr/>
        </p:nvSpPr>
        <p:spPr>
          <a:xfrm>
            <a:off x="2145665" y="3662045"/>
            <a:ext cx="33083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A</a:t>
            </a:r>
            <a:endParaRPr lang="en-US" altLang="zh-CN"/>
          </a:p>
        </p:txBody>
      </p:sp>
      <p:sp>
        <p:nvSpPr>
          <p:cNvPr id="16" name="文本框 15"/>
          <p:cNvSpPr txBox="1"/>
          <p:nvPr/>
        </p:nvSpPr>
        <p:spPr>
          <a:xfrm>
            <a:off x="8995410" y="3585845"/>
            <a:ext cx="31432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T</a:t>
            </a:r>
            <a:endParaRPr lang="en-US" altLang="zh-CN"/>
          </a:p>
        </p:txBody>
      </p:sp>
      <p:sp>
        <p:nvSpPr>
          <p:cNvPr id="17" name="文本框 16"/>
          <p:cNvSpPr txBox="1"/>
          <p:nvPr/>
        </p:nvSpPr>
        <p:spPr>
          <a:xfrm>
            <a:off x="205105" y="151130"/>
            <a:ext cx="2983865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000" b="1">
                <a:latin typeface="STHeiti Regular" panose="02010600040101010101" charset="-122"/>
                <a:ea typeface="STHeiti Regular" panose="02010600040101010101" charset="-122"/>
              </a:rPr>
              <a:t>中缀表达式转后缀表达式</a:t>
            </a:r>
            <a:endParaRPr lang="zh-CN" altLang="en-US" sz="2000" b="1">
              <a:latin typeface="STHeiti Regular" panose="02010600040101010101" charset="-122"/>
              <a:ea typeface="STHeiti Regular" panose="02010600040101010101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11227435" y="286385"/>
            <a:ext cx="32004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+</a:t>
            </a:r>
            <a:endParaRPr lang="en-US" altLang="zh-CN"/>
          </a:p>
        </p:txBody>
      </p:sp>
      <p:sp>
        <p:nvSpPr>
          <p:cNvPr id="19" name="文本框 18"/>
          <p:cNvSpPr txBox="1"/>
          <p:nvPr/>
        </p:nvSpPr>
        <p:spPr>
          <a:xfrm>
            <a:off x="11547475" y="314960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6</a:t>
            </a:r>
            <a:endParaRPr lang="en-US" altLang="zh-C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矩形 3"/>
          <p:cNvSpPr/>
          <p:nvPr/>
        </p:nvSpPr>
        <p:spPr>
          <a:xfrm>
            <a:off x="6830060" y="2145030"/>
            <a:ext cx="1907540" cy="416941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2912110" y="2145030"/>
            <a:ext cx="1907540" cy="416941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3710940" y="5793105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2</a:t>
            </a:r>
            <a:endParaRPr lang="en-US" altLang="zh-CN"/>
          </a:p>
        </p:txBody>
      </p:sp>
      <p:sp>
        <p:nvSpPr>
          <p:cNvPr id="7" name="文本框 6"/>
          <p:cNvSpPr txBox="1"/>
          <p:nvPr/>
        </p:nvSpPr>
        <p:spPr>
          <a:xfrm>
            <a:off x="7701915" y="5867400"/>
            <a:ext cx="32004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+</a:t>
            </a:r>
            <a:endParaRPr lang="en-US" altLang="zh-CN"/>
          </a:p>
        </p:txBody>
      </p:sp>
      <p:sp>
        <p:nvSpPr>
          <p:cNvPr id="9" name="文本框 8"/>
          <p:cNvSpPr txBox="1"/>
          <p:nvPr/>
        </p:nvSpPr>
        <p:spPr>
          <a:xfrm>
            <a:off x="3710940" y="5424805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5</a:t>
            </a:r>
            <a:endParaRPr lang="en-US" altLang="zh-CN"/>
          </a:p>
        </p:txBody>
      </p:sp>
      <p:sp>
        <p:nvSpPr>
          <p:cNvPr id="10" name="文本框 9"/>
          <p:cNvSpPr txBox="1"/>
          <p:nvPr/>
        </p:nvSpPr>
        <p:spPr>
          <a:xfrm>
            <a:off x="3729990" y="4783455"/>
            <a:ext cx="2717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-</a:t>
            </a:r>
            <a:endParaRPr lang="en-US" altLang="zh-CN"/>
          </a:p>
        </p:txBody>
      </p:sp>
      <p:sp>
        <p:nvSpPr>
          <p:cNvPr id="11" name="文本框 10"/>
          <p:cNvSpPr txBox="1"/>
          <p:nvPr/>
        </p:nvSpPr>
        <p:spPr>
          <a:xfrm>
            <a:off x="3710940" y="5094605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1</a:t>
            </a:r>
            <a:endParaRPr lang="en-US" altLang="zh-CN"/>
          </a:p>
        </p:txBody>
      </p:sp>
      <p:sp>
        <p:nvSpPr>
          <p:cNvPr id="13" name="文本框 12"/>
          <p:cNvSpPr txBox="1"/>
          <p:nvPr/>
        </p:nvSpPr>
        <p:spPr>
          <a:xfrm>
            <a:off x="7710805" y="5424805"/>
            <a:ext cx="26352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*</a:t>
            </a:r>
            <a:endParaRPr lang="en-US" altLang="zh-CN"/>
          </a:p>
        </p:txBody>
      </p:sp>
      <p:sp>
        <p:nvSpPr>
          <p:cNvPr id="14" name="文本框 13"/>
          <p:cNvSpPr txBox="1"/>
          <p:nvPr/>
        </p:nvSpPr>
        <p:spPr>
          <a:xfrm>
            <a:off x="10955655" y="298450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4</a:t>
            </a:r>
            <a:endParaRPr lang="en-US" altLang="zh-CN"/>
          </a:p>
        </p:txBody>
      </p:sp>
      <p:sp>
        <p:nvSpPr>
          <p:cNvPr id="15" name="文本框 14"/>
          <p:cNvSpPr txBox="1"/>
          <p:nvPr/>
        </p:nvSpPr>
        <p:spPr>
          <a:xfrm>
            <a:off x="2145665" y="3662045"/>
            <a:ext cx="33083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A</a:t>
            </a:r>
            <a:endParaRPr lang="en-US" altLang="zh-CN"/>
          </a:p>
        </p:txBody>
      </p:sp>
      <p:sp>
        <p:nvSpPr>
          <p:cNvPr id="16" name="文本框 15"/>
          <p:cNvSpPr txBox="1"/>
          <p:nvPr/>
        </p:nvSpPr>
        <p:spPr>
          <a:xfrm>
            <a:off x="8995410" y="3585845"/>
            <a:ext cx="31432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T</a:t>
            </a:r>
            <a:endParaRPr lang="en-US" altLang="zh-CN"/>
          </a:p>
        </p:txBody>
      </p:sp>
      <p:sp>
        <p:nvSpPr>
          <p:cNvPr id="17" name="文本框 16"/>
          <p:cNvSpPr txBox="1"/>
          <p:nvPr/>
        </p:nvSpPr>
        <p:spPr>
          <a:xfrm>
            <a:off x="205105" y="151130"/>
            <a:ext cx="2983865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000" b="1">
                <a:latin typeface="STHeiti Regular" panose="02010600040101010101" charset="-122"/>
                <a:ea typeface="STHeiti Regular" panose="02010600040101010101" charset="-122"/>
              </a:rPr>
              <a:t>中缀表达式转后缀表达式</a:t>
            </a:r>
            <a:endParaRPr lang="zh-CN" altLang="en-US" sz="2000" b="1">
              <a:latin typeface="STHeiti Regular" panose="02010600040101010101" charset="-122"/>
              <a:ea typeface="STHeiti Regular" panose="02010600040101010101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11227435" y="286385"/>
            <a:ext cx="32004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+</a:t>
            </a:r>
            <a:endParaRPr lang="en-US" altLang="zh-CN"/>
          </a:p>
        </p:txBody>
      </p:sp>
      <p:sp>
        <p:nvSpPr>
          <p:cNvPr id="19" name="文本框 18"/>
          <p:cNvSpPr txBox="1"/>
          <p:nvPr/>
        </p:nvSpPr>
        <p:spPr>
          <a:xfrm>
            <a:off x="11547475" y="314960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6</a:t>
            </a:r>
            <a:endParaRPr lang="en-US" altLang="zh-CN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矩形 3"/>
          <p:cNvSpPr/>
          <p:nvPr/>
        </p:nvSpPr>
        <p:spPr>
          <a:xfrm>
            <a:off x="6830060" y="2145030"/>
            <a:ext cx="1907540" cy="416941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2912110" y="2145030"/>
            <a:ext cx="1907540" cy="416941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3710940" y="5793105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2</a:t>
            </a:r>
            <a:endParaRPr lang="en-US" altLang="zh-CN"/>
          </a:p>
        </p:txBody>
      </p:sp>
      <p:sp>
        <p:nvSpPr>
          <p:cNvPr id="7" name="文本框 6"/>
          <p:cNvSpPr txBox="1"/>
          <p:nvPr/>
        </p:nvSpPr>
        <p:spPr>
          <a:xfrm>
            <a:off x="7701915" y="5867400"/>
            <a:ext cx="32004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+</a:t>
            </a:r>
            <a:endParaRPr lang="en-US" altLang="zh-CN"/>
          </a:p>
        </p:txBody>
      </p:sp>
      <p:sp>
        <p:nvSpPr>
          <p:cNvPr id="9" name="文本框 8"/>
          <p:cNvSpPr txBox="1"/>
          <p:nvPr/>
        </p:nvSpPr>
        <p:spPr>
          <a:xfrm>
            <a:off x="3710940" y="5424805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5</a:t>
            </a:r>
            <a:endParaRPr lang="en-US" altLang="zh-CN"/>
          </a:p>
        </p:txBody>
      </p:sp>
      <p:sp>
        <p:nvSpPr>
          <p:cNvPr id="10" name="文本框 9"/>
          <p:cNvSpPr txBox="1"/>
          <p:nvPr/>
        </p:nvSpPr>
        <p:spPr>
          <a:xfrm>
            <a:off x="3729990" y="4783455"/>
            <a:ext cx="2717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-</a:t>
            </a:r>
            <a:endParaRPr lang="en-US" altLang="zh-CN"/>
          </a:p>
        </p:txBody>
      </p:sp>
      <p:sp>
        <p:nvSpPr>
          <p:cNvPr id="11" name="文本框 10"/>
          <p:cNvSpPr txBox="1"/>
          <p:nvPr/>
        </p:nvSpPr>
        <p:spPr>
          <a:xfrm>
            <a:off x="3710940" y="5094605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1</a:t>
            </a:r>
            <a:endParaRPr lang="en-US" altLang="zh-CN"/>
          </a:p>
        </p:txBody>
      </p:sp>
      <p:sp>
        <p:nvSpPr>
          <p:cNvPr id="13" name="文本框 12"/>
          <p:cNvSpPr txBox="1"/>
          <p:nvPr/>
        </p:nvSpPr>
        <p:spPr>
          <a:xfrm>
            <a:off x="7710805" y="5424805"/>
            <a:ext cx="26352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*</a:t>
            </a:r>
            <a:endParaRPr lang="en-US" altLang="zh-CN"/>
          </a:p>
        </p:txBody>
      </p:sp>
      <p:sp>
        <p:nvSpPr>
          <p:cNvPr id="14" name="文本框 13"/>
          <p:cNvSpPr txBox="1"/>
          <p:nvPr/>
        </p:nvSpPr>
        <p:spPr>
          <a:xfrm>
            <a:off x="3710940" y="4507230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4</a:t>
            </a:r>
            <a:endParaRPr lang="en-US" altLang="zh-CN"/>
          </a:p>
        </p:txBody>
      </p:sp>
      <p:sp>
        <p:nvSpPr>
          <p:cNvPr id="15" name="文本框 14"/>
          <p:cNvSpPr txBox="1"/>
          <p:nvPr/>
        </p:nvSpPr>
        <p:spPr>
          <a:xfrm>
            <a:off x="2145665" y="3662045"/>
            <a:ext cx="33083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A</a:t>
            </a:r>
            <a:endParaRPr lang="en-US" altLang="zh-CN"/>
          </a:p>
        </p:txBody>
      </p:sp>
      <p:sp>
        <p:nvSpPr>
          <p:cNvPr id="16" name="文本框 15"/>
          <p:cNvSpPr txBox="1"/>
          <p:nvPr/>
        </p:nvSpPr>
        <p:spPr>
          <a:xfrm>
            <a:off x="8995410" y="3585845"/>
            <a:ext cx="31432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T</a:t>
            </a:r>
            <a:endParaRPr lang="en-US" altLang="zh-CN"/>
          </a:p>
        </p:txBody>
      </p:sp>
      <p:sp>
        <p:nvSpPr>
          <p:cNvPr id="17" name="文本框 16"/>
          <p:cNvSpPr txBox="1"/>
          <p:nvPr/>
        </p:nvSpPr>
        <p:spPr>
          <a:xfrm>
            <a:off x="205105" y="151130"/>
            <a:ext cx="2983865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000" b="1">
                <a:latin typeface="STHeiti Regular" panose="02010600040101010101" charset="-122"/>
                <a:ea typeface="STHeiti Regular" panose="02010600040101010101" charset="-122"/>
              </a:rPr>
              <a:t>中缀表达式转后缀表达式</a:t>
            </a:r>
            <a:endParaRPr lang="zh-CN" altLang="en-US" sz="2000" b="1">
              <a:latin typeface="STHeiti Regular" panose="02010600040101010101" charset="-122"/>
              <a:ea typeface="STHeiti Regular" panose="02010600040101010101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11227435" y="286385"/>
            <a:ext cx="32004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+</a:t>
            </a:r>
            <a:endParaRPr lang="en-US" altLang="zh-CN"/>
          </a:p>
        </p:txBody>
      </p:sp>
      <p:sp>
        <p:nvSpPr>
          <p:cNvPr id="19" name="文本框 18"/>
          <p:cNvSpPr txBox="1"/>
          <p:nvPr/>
        </p:nvSpPr>
        <p:spPr>
          <a:xfrm>
            <a:off x="11547475" y="314960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6</a:t>
            </a:r>
            <a:endParaRPr lang="en-US" altLang="zh-CN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矩形 3"/>
          <p:cNvSpPr/>
          <p:nvPr/>
        </p:nvSpPr>
        <p:spPr>
          <a:xfrm>
            <a:off x="6830060" y="2145030"/>
            <a:ext cx="1907540" cy="416941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2912110" y="2145030"/>
            <a:ext cx="1907540" cy="416941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3710940" y="5793105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2</a:t>
            </a:r>
            <a:endParaRPr lang="en-US" altLang="zh-CN"/>
          </a:p>
        </p:txBody>
      </p:sp>
      <p:sp>
        <p:nvSpPr>
          <p:cNvPr id="7" name="文本框 6"/>
          <p:cNvSpPr txBox="1"/>
          <p:nvPr/>
        </p:nvSpPr>
        <p:spPr>
          <a:xfrm>
            <a:off x="7701915" y="5867400"/>
            <a:ext cx="32004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+</a:t>
            </a:r>
            <a:endParaRPr lang="en-US" altLang="zh-CN"/>
          </a:p>
        </p:txBody>
      </p:sp>
      <p:sp>
        <p:nvSpPr>
          <p:cNvPr id="9" name="文本框 8"/>
          <p:cNvSpPr txBox="1"/>
          <p:nvPr/>
        </p:nvSpPr>
        <p:spPr>
          <a:xfrm>
            <a:off x="3710940" y="5424805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5</a:t>
            </a:r>
            <a:endParaRPr lang="en-US" altLang="zh-CN"/>
          </a:p>
        </p:txBody>
      </p:sp>
      <p:sp>
        <p:nvSpPr>
          <p:cNvPr id="10" name="文本框 9"/>
          <p:cNvSpPr txBox="1"/>
          <p:nvPr/>
        </p:nvSpPr>
        <p:spPr>
          <a:xfrm>
            <a:off x="3729990" y="4783455"/>
            <a:ext cx="2717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-</a:t>
            </a:r>
            <a:endParaRPr lang="en-US" altLang="zh-CN"/>
          </a:p>
        </p:txBody>
      </p:sp>
      <p:sp>
        <p:nvSpPr>
          <p:cNvPr id="11" name="文本框 10"/>
          <p:cNvSpPr txBox="1"/>
          <p:nvPr/>
        </p:nvSpPr>
        <p:spPr>
          <a:xfrm>
            <a:off x="3710940" y="5094605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1</a:t>
            </a:r>
            <a:endParaRPr lang="en-US" altLang="zh-CN"/>
          </a:p>
        </p:txBody>
      </p:sp>
      <p:sp>
        <p:nvSpPr>
          <p:cNvPr id="13" name="文本框 12"/>
          <p:cNvSpPr txBox="1"/>
          <p:nvPr/>
        </p:nvSpPr>
        <p:spPr>
          <a:xfrm>
            <a:off x="3733800" y="4207510"/>
            <a:ext cx="26352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*</a:t>
            </a:r>
            <a:endParaRPr lang="en-US" altLang="zh-CN"/>
          </a:p>
        </p:txBody>
      </p:sp>
      <p:sp>
        <p:nvSpPr>
          <p:cNvPr id="14" name="文本框 13"/>
          <p:cNvSpPr txBox="1"/>
          <p:nvPr/>
        </p:nvSpPr>
        <p:spPr>
          <a:xfrm>
            <a:off x="3710940" y="4507230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4</a:t>
            </a:r>
            <a:endParaRPr lang="en-US" altLang="zh-CN"/>
          </a:p>
        </p:txBody>
      </p:sp>
      <p:sp>
        <p:nvSpPr>
          <p:cNvPr id="15" name="文本框 14"/>
          <p:cNvSpPr txBox="1"/>
          <p:nvPr/>
        </p:nvSpPr>
        <p:spPr>
          <a:xfrm>
            <a:off x="2145665" y="3662045"/>
            <a:ext cx="33083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A</a:t>
            </a:r>
            <a:endParaRPr lang="en-US" altLang="zh-CN"/>
          </a:p>
        </p:txBody>
      </p:sp>
      <p:sp>
        <p:nvSpPr>
          <p:cNvPr id="16" name="文本框 15"/>
          <p:cNvSpPr txBox="1"/>
          <p:nvPr/>
        </p:nvSpPr>
        <p:spPr>
          <a:xfrm>
            <a:off x="8995410" y="3585845"/>
            <a:ext cx="31432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T</a:t>
            </a:r>
            <a:endParaRPr lang="en-US" altLang="zh-CN"/>
          </a:p>
        </p:txBody>
      </p:sp>
      <p:sp>
        <p:nvSpPr>
          <p:cNvPr id="17" name="文本框 16"/>
          <p:cNvSpPr txBox="1"/>
          <p:nvPr/>
        </p:nvSpPr>
        <p:spPr>
          <a:xfrm>
            <a:off x="205105" y="151130"/>
            <a:ext cx="2983865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000" b="1">
                <a:latin typeface="STHeiti Regular" panose="02010600040101010101" charset="-122"/>
                <a:ea typeface="STHeiti Regular" panose="02010600040101010101" charset="-122"/>
              </a:rPr>
              <a:t>中缀表达式转后缀表达式</a:t>
            </a:r>
            <a:endParaRPr lang="zh-CN" altLang="en-US" sz="2000" b="1">
              <a:latin typeface="STHeiti Regular" panose="02010600040101010101" charset="-122"/>
              <a:ea typeface="STHeiti Regular" panose="02010600040101010101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11227435" y="286385"/>
            <a:ext cx="32004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+</a:t>
            </a:r>
            <a:endParaRPr lang="en-US" altLang="zh-CN"/>
          </a:p>
        </p:txBody>
      </p:sp>
      <p:sp>
        <p:nvSpPr>
          <p:cNvPr id="19" name="文本框 18"/>
          <p:cNvSpPr txBox="1"/>
          <p:nvPr/>
        </p:nvSpPr>
        <p:spPr>
          <a:xfrm>
            <a:off x="11547475" y="314960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6</a:t>
            </a:r>
            <a:endParaRPr lang="en-US" altLang="zh-CN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矩形 3"/>
          <p:cNvSpPr/>
          <p:nvPr/>
        </p:nvSpPr>
        <p:spPr>
          <a:xfrm>
            <a:off x="6830060" y="2145030"/>
            <a:ext cx="1907540" cy="416941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2912110" y="2145030"/>
            <a:ext cx="1907540" cy="416941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3710940" y="5793105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2</a:t>
            </a:r>
            <a:endParaRPr lang="en-US" altLang="zh-CN"/>
          </a:p>
        </p:txBody>
      </p:sp>
      <p:sp>
        <p:nvSpPr>
          <p:cNvPr id="7" name="文本框 6"/>
          <p:cNvSpPr txBox="1"/>
          <p:nvPr/>
        </p:nvSpPr>
        <p:spPr>
          <a:xfrm>
            <a:off x="3710940" y="3815715"/>
            <a:ext cx="32004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+</a:t>
            </a:r>
            <a:endParaRPr lang="en-US" altLang="zh-CN"/>
          </a:p>
        </p:txBody>
      </p:sp>
      <p:sp>
        <p:nvSpPr>
          <p:cNvPr id="9" name="文本框 8"/>
          <p:cNvSpPr txBox="1"/>
          <p:nvPr/>
        </p:nvSpPr>
        <p:spPr>
          <a:xfrm>
            <a:off x="3710940" y="5424805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5</a:t>
            </a:r>
            <a:endParaRPr lang="en-US" altLang="zh-CN"/>
          </a:p>
        </p:txBody>
      </p:sp>
      <p:sp>
        <p:nvSpPr>
          <p:cNvPr id="10" name="文本框 9"/>
          <p:cNvSpPr txBox="1"/>
          <p:nvPr/>
        </p:nvSpPr>
        <p:spPr>
          <a:xfrm>
            <a:off x="3729990" y="4783455"/>
            <a:ext cx="2717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-</a:t>
            </a:r>
            <a:endParaRPr lang="en-US" altLang="zh-CN"/>
          </a:p>
        </p:txBody>
      </p:sp>
      <p:sp>
        <p:nvSpPr>
          <p:cNvPr id="11" name="文本框 10"/>
          <p:cNvSpPr txBox="1"/>
          <p:nvPr/>
        </p:nvSpPr>
        <p:spPr>
          <a:xfrm>
            <a:off x="3710940" y="5094605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1</a:t>
            </a:r>
            <a:endParaRPr lang="en-US" altLang="zh-CN"/>
          </a:p>
        </p:txBody>
      </p:sp>
      <p:sp>
        <p:nvSpPr>
          <p:cNvPr id="13" name="文本框 12"/>
          <p:cNvSpPr txBox="1"/>
          <p:nvPr/>
        </p:nvSpPr>
        <p:spPr>
          <a:xfrm>
            <a:off x="3733800" y="4207510"/>
            <a:ext cx="26352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*</a:t>
            </a:r>
            <a:endParaRPr lang="en-US" altLang="zh-CN"/>
          </a:p>
        </p:txBody>
      </p:sp>
      <p:sp>
        <p:nvSpPr>
          <p:cNvPr id="14" name="文本框 13"/>
          <p:cNvSpPr txBox="1"/>
          <p:nvPr/>
        </p:nvSpPr>
        <p:spPr>
          <a:xfrm>
            <a:off x="3710940" y="4507230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4</a:t>
            </a:r>
            <a:endParaRPr lang="en-US" altLang="zh-CN"/>
          </a:p>
        </p:txBody>
      </p:sp>
      <p:sp>
        <p:nvSpPr>
          <p:cNvPr id="15" name="文本框 14"/>
          <p:cNvSpPr txBox="1"/>
          <p:nvPr/>
        </p:nvSpPr>
        <p:spPr>
          <a:xfrm>
            <a:off x="2145665" y="3662045"/>
            <a:ext cx="33083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A</a:t>
            </a:r>
            <a:endParaRPr lang="en-US" altLang="zh-CN"/>
          </a:p>
        </p:txBody>
      </p:sp>
      <p:sp>
        <p:nvSpPr>
          <p:cNvPr id="16" name="文本框 15"/>
          <p:cNvSpPr txBox="1"/>
          <p:nvPr/>
        </p:nvSpPr>
        <p:spPr>
          <a:xfrm>
            <a:off x="8995410" y="3585845"/>
            <a:ext cx="31432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T</a:t>
            </a:r>
            <a:endParaRPr lang="en-US" altLang="zh-CN"/>
          </a:p>
        </p:txBody>
      </p:sp>
      <p:sp>
        <p:nvSpPr>
          <p:cNvPr id="17" name="文本框 16"/>
          <p:cNvSpPr txBox="1"/>
          <p:nvPr/>
        </p:nvSpPr>
        <p:spPr>
          <a:xfrm>
            <a:off x="205105" y="151130"/>
            <a:ext cx="2983865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000" b="1">
                <a:latin typeface="STHeiti Regular" panose="02010600040101010101" charset="-122"/>
                <a:ea typeface="STHeiti Regular" panose="02010600040101010101" charset="-122"/>
              </a:rPr>
              <a:t>中缀表达式转后缀表达式</a:t>
            </a:r>
            <a:endParaRPr lang="zh-CN" altLang="en-US" sz="2000" b="1">
              <a:latin typeface="STHeiti Regular" panose="02010600040101010101" charset="-122"/>
              <a:ea typeface="STHeiti Regular" panose="02010600040101010101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11227435" y="286385"/>
            <a:ext cx="32004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+</a:t>
            </a:r>
            <a:endParaRPr lang="en-US" altLang="zh-CN"/>
          </a:p>
        </p:txBody>
      </p:sp>
      <p:sp>
        <p:nvSpPr>
          <p:cNvPr id="19" name="文本框 18"/>
          <p:cNvSpPr txBox="1"/>
          <p:nvPr/>
        </p:nvSpPr>
        <p:spPr>
          <a:xfrm>
            <a:off x="11547475" y="314960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6</a:t>
            </a:r>
            <a:endParaRPr lang="en-US" altLang="zh-CN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矩形 3"/>
          <p:cNvSpPr/>
          <p:nvPr/>
        </p:nvSpPr>
        <p:spPr>
          <a:xfrm>
            <a:off x="6830060" y="2145030"/>
            <a:ext cx="1907540" cy="416941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2912110" y="2145030"/>
            <a:ext cx="1907540" cy="416941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3710940" y="5793105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2</a:t>
            </a:r>
            <a:endParaRPr lang="en-US" altLang="zh-CN"/>
          </a:p>
        </p:txBody>
      </p:sp>
      <p:sp>
        <p:nvSpPr>
          <p:cNvPr id="7" name="文本框 6"/>
          <p:cNvSpPr txBox="1"/>
          <p:nvPr/>
        </p:nvSpPr>
        <p:spPr>
          <a:xfrm>
            <a:off x="3710940" y="3815715"/>
            <a:ext cx="32004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+</a:t>
            </a:r>
            <a:endParaRPr lang="en-US" altLang="zh-CN"/>
          </a:p>
        </p:txBody>
      </p:sp>
      <p:sp>
        <p:nvSpPr>
          <p:cNvPr id="9" name="文本框 8"/>
          <p:cNvSpPr txBox="1"/>
          <p:nvPr/>
        </p:nvSpPr>
        <p:spPr>
          <a:xfrm>
            <a:off x="3710940" y="5424805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5</a:t>
            </a:r>
            <a:endParaRPr lang="en-US" altLang="zh-CN"/>
          </a:p>
        </p:txBody>
      </p:sp>
      <p:sp>
        <p:nvSpPr>
          <p:cNvPr id="10" name="文本框 9"/>
          <p:cNvSpPr txBox="1"/>
          <p:nvPr/>
        </p:nvSpPr>
        <p:spPr>
          <a:xfrm>
            <a:off x="3729990" y="4783455"/>
            <a:ext cx="2717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-</a:t>
            </a:r>
            <a:endParaRPr lang="en-US" altLang="zh-CN"/>
          </a:p>
        </p:txBody>
      </p:sp>
      <p:sp>
        <p:nvSpPr>
          <p:cNvPr id="11" name="文本框 10"/>
          <p:cNvSpPr txBox="1"/>
          <p:nvPr/>
        </p:nvSpPr>
        <p:spPr>
          <a:xfrm>
            <a:off x="3710940" y="5094605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1</a:t>
            </a:r>
            <a:endParaRPr lang="en-US" altLang="zh-CN"/>
          </a:p>
        </p:txBody>
      </p:sp>
      <p:sp>
        <p:nvSpPr>
          <p:cNvPr id="13" name="文本框 12"/>
          <p:cNvSpPr txBox="1"/>
          <p:nvPr/>
        </p:nvSpPr>
        <p:spPr>
          <a:xfrm>
            <a:off x="3733800" y="4207510"/>
            <a:ext cx="26352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*</a:t>
            </a:r>
            <a:endParaRPr lang="en-US" altLang="zh-CN"/>
          </a:p>
        </p:txBody>
      </p:sp>
      <p:sp>
        <p:nvSpPr>
          <p:cNvPr id="14" name="文本框 13"/>
          <p:cNvSpPr txBox="1"/>
          <p:nvPr/>
        </p:nvSpPr>
        <p:spPr>
          <a:xfrm>
            <a:off x="3710940" y="4507230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4</a:t>
            </a:r>
            <a:endParaRPr lang="en-US" altLang="zh-CN"/>
          </a:p>
        </p:txBody>
      </p:sp>
      <p:sp>
        <p:nvSpPr>
          <p:cNvPr id="15" name="文本框 14"/>
          <p:cNvSpPr txBox="1"/>
          <p:nvPr/>
        </p:nvSpPr>
        <p:spPr>
          <a:xfrm>
            <a:off x="2145665" y="3662045"/>
            <a:ext cx="33083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A</a:t>
            </a:r>
            <a:endParaRPr lang="en-US" altLang="zh-CN"/>
          </a:p>
        </p:txBody>
      </p:sp>
      <p:sp>
        <p:nvSpPr>
          <p:cNvPr id="16" name="文本框 15"/>
          <p:cNvSpPr txBox="1"/>
          <p:nvPr/>
        </p:nvSpPr>
        <p:spPr>
          <a:xfrm>
            <a:off x="8995410" y="3585845"/>
            <a:ext cx="31432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T</a:t>
            </a:r>
            <a:endParaRPr lang="en-US" altLang="zh-CN"/>
          </a:p>
        </p:txBody>
      </p:sp>
      <p:sp>
        <p:nvSpPr>
          <p:cNvPr id="17" name="文本框 16"/>
          <p:cNvSpPr txBox="1"/>
          <p:nvPr/>
        </p:nvSpPr>
        <p:spPr>
          <a:xfrm>
            <a:off x="205105" y="151130"/>
            <a:ext cx="2983865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000" b="1">
                <a:latin typeface="STHeiti Regular" panose="02010600040101010101" charset="-122"/>
                <a:ea typeface="STHeiti Regular" panose="02010600040101010101" charset="-122"/>
              </a:rPr>
              <a:t>中缀表达式转后缀表达式</a:t>
            </a:r>
            <a:endParaRPr lang="zh-CN" altLang="en-US" sz="2000" b="1">
              <a:latin typeface="STHeiti Regular" panose="02010600040101010101" charset="-122"/>
              <a:ea typeface="STHeiti Regular" panose="02010600040101010101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7693025" y="5793105"/>
            <a:ext cx="32004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+</a:t>
            </a:r>
            <a:endParaRPr lang="en-US" altLang="zh-CN"/>
          </a:p>
        </p:txBody>
      </p:sp>
      <p:sp>
        <p:nvSpPr>
          <p:cNvPr id="19" name="文本框 18"/>
          <p:cNvSpPr txBox="1"/>
          <p:nvPr/>
        </p:nvSpPr>
        <p:spPr>
          <a:xfrm>
            <a:off x="11547475" y="314960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6</a:t>
            </a:r>
            <a:endParaRPr lang="en-US" altLang="zh-CN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矩形 3"/>
          <p:cNvSpPr/>
          <p:nvPr/>
        </p:nvSpPr>
        <p:spPr>
          <a:xfrm>
            <a:off x="6830060" y="2145030"/>
            <a:ext cx="1907540" cy="416941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2912110" y="2145030"/>
            <a:ext cx="1907540" cy="416941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3710940" y="5793105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2</a:t>
            </a:r>
            <a:endParaRPr lang="en-US" altLang="zh-CN"/>
          </a:p>
        </p:txBody>
      </p:sp>
      <p:sp>
        <p:nvSpPr>
          <p:cNvPr id="7" name="文本框 6"/>
          <p:cNvSpPr txBox="1"/>
          <p:nvPr/>
        </p:nvSpPr>
        <p:spPr>
          <a:xfrm>
            <a:off x="3710940" y="3815715"/>
            <a:ext cx="32004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+</a:t>
            </a:r>
            <a:endParaRPr lang="en-US" altLang="zh-CN"/>
          </a:p>
        </p:txBody>
      </p:sp>
      <p:sp>
        <p:nvSpPr>
          <p:cNvPr id="9" name="文本框 8"/>
          <p:cNvSpPr txBox="1"/>
          <p:nvPr/>
        </p:nvSpPr>
        <p:spPr>
          <a:xfrm>
            <a:off x="3710940" y="5424805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5</a:t>
            </a:r>
            <a:endParaRPr lang="en-US" altLang="zh-CN"/>
          </a:p>
        </p:txBody>
      </p:sp>
      <p:sp>
        <p:nvSpPr>
          <p:cNvPr id="10" name="文本框 9"/>
          <p:cNvSpPr txBox="1"/>
          <p:nvPr/>
        </p:nvSpPr>
        <p:spPr>
          <a:xfrm>
            <a:off x="3729990" y="4783455"/>
            <a:ext cx="2717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-</a:t>
            </a:r>
            <a:endParaRPr lang="en-US" altLang="zh-CN"/>
          </a:p>
        </p:txBody>
      </p:sp>
      <p:sp>
        <p:nvSpPr>
          <p:cNvPr id="11" name="文本框 10"/>
          <p:cNvSpPr txBox="1"/>
          <p:nvPr/>
        </p:nvSpPr>
        <p:spPr>
          <a:xfrm>
            <a:off x="3710940" y="5094605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1</a:t>
            </a:r>
            <a:endParaRPr lang="en-US" altLang="zh-CN"/>
          </a:p>
        </p:txBody>
      </p:sp>
      <p:sp>
        <p:nvSpPr>
          <p:cNvPr id="13" name="文本框 12"/>
          <p:cNvSpPr txBox="1"/>
          <p:nvPr/>
        </p:nvSpPr>
        <p:spPr>
          <a:xfrm>
            <a:off x="3733800" y="4207510"/>
            <a:ext cx="26352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*</a:t>
            </a:r>
            <a:endParaRPr lang="en-US" altLang="zh-CN"/>
          </a:p>
        </p:txBody>
      </p:sp>
      <p:sp>
        <p:nvSpPr>
          <p:cNvPr id="14" name="文本框 13"/>
          <p:cNvSpPr txBox="1"/>
          <p:nvPr/>
        </p:nvSpPr>
        <p:spPr>
          <a:xfrm>
            <a:off x="3710940" y="4507230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4</a:t>
            </a:r>
            <a:endParaRPr lang="en-US" altLang="zh-CN"/>
          </a:p>
        </p:txBody>
      </p:sp>
      <p:sp>
        <p:nvSpPr>
          <p:cNvPr id="15" name="文本框 14"/>
          <p:cNvSpPr txBox="1"/>
          <p:nvPr/>
        </p:nvSpPr>
        <p:spPr>
          <a:xfrm>
            <a:off x="2145665" y="3662045"/>
            <a:ext cx="33083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A</a:t>
            </a:r>
            <a:endParaRPr lang="en-US" altLang="zh-CN"/>
          </a:p>
        </p:txBody>
      </p:sp>
      <p:sp>
        <p:nvSpPr>
          <p:cNvPr id="16" name="文本框 15"/>
          <p:cNvSpPr txBox="1"/>
          <p:nvPr/>
        </p:nvSpPr>
        <p:spPr>
          <a:xfrm>
            <a:off x="8995410" y="3585845"/>
            <a:ext cx="31432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T</a:t>
            </a:r>
            <a:endParaRPr lang="en-US" altLang="zh-CN"/>
          </a:p>
        </p:txBody>
      </p:sp>
      <p:sp>
        <p:nvSpPr>
          <p:cNvPr id="17" name="文本框 16"/>
          <p:cNvSpPr txBox="1"/>
          <p:nvPr/>
        </p:nvSpPr>
        <p:spPr>
          <a:xfrm>
            <a:off x="205105" y="151130"/>
            <a:ext cx="2983865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000" b="1">
                <a:latin typeface="STHeiti Regular" panose="02010600040101010101" charset="-122"/>
                <a:ea typeface="STHeiti Regular" panose="02010600040101010101" charset="-122"/>
              </a:rPr>
              <a:t>中缀表达式转后缀表达式</a:t>
            </a:r>
            <a:endParaRPr lang="zh-CN" altLang="en-US" sz="2000" b="1">
              <a:latin typeface="STHeiti Regular" panose="02010600040101010101" charset="-122"/>
              <a:ea typeface="STHeiti Regular" panose="02010600040101010101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7693025" y="5793105"/>
            <a:ext cx="32004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+</a:t>
            </a:r>
            <a:endParaRPr lang="en-US" altLang="zh-CN"/>
          </a:p>
        </p:txBody>
      </p:sp>
      <p:sp>
        <p:nvSpPr>
          <p:cNvPr id="19" name="文本框 18"/>
          <p:cNvSpPr txBox="1"/>
          <p:nvPr/>
        </p:nvSpPr>
        <p:spPr>
          <a:xfrm>
            <a:off x="3733800" y="3512185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6</a:t>
            </a:r>
            <a:endParaRPr lang="en-US" altLang="zh-CN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矩形 3"/>
          <p:cNvSpPr/>
          <p:nvPr/>
        </p:nvSpPr>
        <p:spPr>
          <a:xfrm>
            <a:off x="6830060" y="2145030"/>
            <a:ext cx="1907540" cy="416941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2912110" y="2145030"/>
            <a:ext cx="1907540" cy="416941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3710940" y="5793105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2</a:t>
            </a:r>
            <a:endParaRPr lang="en-US" altLang="zh-CN"/>
          </a:p>
        </p:txBody>
      </p:sp>
      <p:sp>
        <p:nvSpPr>
          <p:cNvPr id="7" name="文本框 6"/>
          <p:cNvSpPr txBox="1"/>
          <p:nvPr/>
        </p:nvSpPr>
        <p:spPr>
          <a:xfrm>
            <a:off x="3710940" y="3815715"/>
            <a:ext cx="32004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+</a:t>
            </a:r>
            <a:endParaRPr lang="en-US" altLang="zh-CN"/>
          </a:p>
        </p:txBody>
      </p:sp>
      <p:sp>
        <p:nvSpPr>
          <p:cNvPr id="9" name="文本框 8"/>
          <p:cNvSpPr txBox="1"/>
          <p:nvPr/>
        </p:nvSpPr>
        <p:spPr>
          <a:xfrm>
            <a:off x="3710940" y="5424805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5</a:t>
            </a:r>
            <a:endParaRPr lang="en-US" altLang="zh-CN"/>
          </a:p>
        </p:txBody>
      </p:sp>
      <p:sp>
        <p:nvSpPr>
          <p:cNvPr id="10" name="文本框 9"/>
          <p:cNvSpPr txBox="1"/>
          <p:nvPr/>
        </p:nvSpPr>
        <p:spPr>
          <a:xfrm>
            <a:off x="3729990" y="4783455"/>
            <a:ext cx="2717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-</a:t>
            </a:r>
            <a:endParaRPr lang="en-US" altLang="zh-CN"/>
          </a:p>
        </p:txBody>
      </p:sp>
      <p:sp>
        <p:nvSpPr>
          <p:cNvPr id="11" name="文本框 10"/>
          <p:cNvSpPr txBox="1"/>
          <p:nvPr/>
        </p:nvSpPr>
        <p:spPr>
          <a:xfrm>
            <a:off x="3710940" y="5094605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1</a:t>
            </a:r>
            <a:endParaRPr lang="en-US" altLang="zh-CN"/>
          </a:p>
        </p:txBody>
      </p:sp>
      <p:sp>
        <p:nvSpPr>
          <p:cNvPr id="13" name="文本框 12"/>
          <p:cNvSpPr txBox="1"/>
          <p:nvPr/>
        </p:nvSpPr>
        <p:spPr>
          <a:xfrm>
            <a:off x="3733800" y="4207510"/>
            <a:ext cx="26352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*</a:t>
            </a:r>
            <a:endParaRPr lang="en-US" altLang="zh-CN"/>
          </a:p>
        </p:txBody>
      </p:sp>
      <p:sp>
        <p:nvSpPr>
          <p:cNvPr id="14" name="文本框 13"/>
          <p:cNvSpPr txBox="1"/>
          <p:nvPr/>
        </p:nvSpPr>
        <p:spPr>
          <a:xfrm>
            <a:off x="3710940" y="4507230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4</a:t>
            </a:r>
            <a:endParaRPr lang="en-US" altLang="zh-CN"/>
          </a:p>
        </p:txBody>
      </p:sp>
      <p:sp>
        <p:nvSpPr>
          <p:cNvPr id="15" name="文本框 14"/>
          <p:cNvSpPr txBox="1"/>
          <p:nvPr/>
        </p:nvSpPr>
        <p:spPr>
          <a:xfrm>
            <a:off x="2145665" y="3662045"/>
            <a:ext cx="33083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A</a:t>
            </a:r>
            <a:endParaRPr lang="en-US" altLang="zh-CN"/>
          </a:p>
        </p:txBody>
      </p:sp>
      <p:sp>
        <p:nvSpPr>
          <p:cNvPr id="16" name="文本框 15"/>
          <p:cNvSpPr txBox="1"/>
          <p:nvPr/>
        </p:nvSpPr>
        <p:spPr>
          <a:xfrm>
            <a:off x="8995410" y="3585845"/>
            <a:ext cx="31432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T</a:t>
            </a:r>
            <a:endParaRPr lang="en-US" altLang="zh-CN"/>
          </a:p>
        </p:txBody>
      </p:sp>
      <p:sp>
        <p:nvSpPr>
          <p:cNvPr id="17" name="文本框 16"/>
          <p:cNvSpPr txBox="1"/>
          <p:nvPr/>
        </p:nvSpPr>
        <p:spPr>
          <a:xfrm>
            <a:off x="205105" y="151130"/>
            <a:ext cx="2983865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000" b="1">
                <a:latin typeface="STHeiti Regular" panose="02010600040101010101" charset="-122"/>
                <a:ea typeface="STHeiti Regular" panose="02010600040101010101" charset="-122"/>
              </a:rPr>
              <a:t>中缀表达式转后缀表达式</a:t>
            </a:r>
            <a:endParaRPr lang="zh-CN" altLang="en-US" sz="2000" b="1">
              <a:latin typeface="STHeiti Regular" panose="02010600040101010101" charset="-122"/>
              <a:ea typeface="STHeiti Regular" panose="02010600040101010101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3729355" y="3217545"/>
            <a:ext cx="32004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+</a:t>
            </a:r>
            <a:endParaRPr lang="en-US" altLang="zh-CN"/>
          </a:p>
        </p:txBody>
      </p:sp>
      <p:sp>
        <p:nvSpPr>
          <p:cNvPr id="19" name="文本框 18"/>
          <p:cNvSpPr txBox="1"/>
          <p:nvPr/>
        </p:nvSpPr>
        <p:spPr>
          <a:xfrm>
            <a:off x="3733800" y="3512185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6</a:t>
            </a:r>
            <a:endParaRPr lang="en-US" altLang="zh-CN"/>
          </a:p>
        </p:txBody>
      </p:sp>
      <p:sp>
        <p:nvSpPr>
          <p:cNvPr id="2" name="文本框 1"/>
          <p:cNvSpPr txBox="1"/>
          <p:nvPr/>
        </p:nvSpPr>
        <p:spPr>
          <a:xfrm>
            <a:off x="9553575" y="151130"/>
            <a:ext cx="2540000" cy="1476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2 + (5 - 1) * 4 + 6</a:t>
            </a:r>
            <a:endParaRPr lang="zh-CN" altLang="en-US"/>
          </a:p>
          <a:p>
            <a:r>
              <a:rPr lang="zh-CN" altLang="en-US"/>
              <a:t>2 + (5 1 -)* 4 + 6</a:t>
            </a:r>
            <a:endParaRPr lang="zh-CN" altLang="en-US"/>
          </a:p>
          <a:p>
            <a:r>
              <a:rPr lang="zh-CN" altLang="en-US"/>
              <a:t>2 + (5 1 - 4 *) + 6</a:t>
            </a:r>
            <a:endParaRPr lang="zh-CN" altLang="en-US"/>
          </a:p>
          <a:p>
            <a:r>
              <a:rPr lang="zh-CN" altLang="en-US"/>
              <a:t>(2 5 1 - 4 * +) + 6</a:t>
            </a:r>
            <a:endParaRPr lang="zh-CN" altLang="en-US"/>
          </a:p>
          <a:p>
            <a:r>
              <a:rPr lang="zh-CN" altLang="en-US"/>
              <a:t>2 5 1 - 4 * + 6 +</a:t>
            </a:r>
            <a:endParaRPr lang="zh-CN" alt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矩形 3"/>
          <p:cNvSpPr/>
          <p:nvPr/>
        </p:nvSpPr>
        <p:spPr>
          <a:xfrm>
            <a:off x="4393565" y="2106295"/>
            <a:ext cx="1907540" cy="416941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 rot="5400000">
            <a:off x="9331960" y="-1331595"/>
            <a:ext cx="905510" cy="416941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7880985" y="568960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2</a:t>
            </a:r>
            <a:endParaRPr lang="en-US" altLang="zh-CN"/>
          </a:p>
        </p:txBody>
      </p:sp>
      <p:sp>
        <p:nvSpPr>
          <p:cNvPr id="7" name="文本框 6"/>
          <p:cNvSpPr txBox="1"/>
          <p:nvPr/>
        </p:nvSpPr>
        <p:spPr>
          <a:xfrm>
            <a:off x="9963785" y="525145"/>
            <a:ext cx="32004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+</a:t>
            </a:r>
            <a:endParaRPr lang="en-US" altLang="zh-CN"/>
          </a:p>
        </p:txBody>
      </p:sp>
      <p:sp>
        <p:nvSpPr>
          <p:cNvPr id="9" name="文本框 8"/>
          <p:cNvSpPr txBox="1"/>
          <p:nvPr/>
        </p:nvSpPr>
        <p:spPr>
          <a:xfrm>
            <a:off x="8266430" y="568960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5</a:t>
            </a:r>
            <a:endParaRPr lang="en-US" altLang="zh-CN"/>
          </a:p>
        </p:txBody>
      </p:sp>
      <p:sp>
        <p:nvSpPr>
          <p:cNvPr id="10" name="文本框 9"/>
          <p:cNvSpPr txBox="1"/>
          <p:nvPr/>
        </p:nvSpPr>
        <p:spPr>
          <a:xfrm>
            <a:off x="9027160" y="549910"/>
            <a:ext cx="2717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-</a:t>
            </a:r>
            <a:endParaRPr lang="en-US" altLang="zh-CN"/>
          </a:p>
        </p:txBody>
      </p:sp>
      <p:sp>
        <p:nvSpPr>
          <p:cNvPr id="11" name="文本框 10"/>
          <p:cNvSpPr txBox="1"/>
          <p:nvPr/>
        </p:nvSpPr>
        <p:spPr>
          <a:xfrm>
            <a:off x="8680450" y="553720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1</a:t>
            </a:r>
            <a:endParaRPr lang="en-US" altLang="zh-CN"/>
          </a:p>
        </p:txBody>
      </p:sp>
      <p:sp>
        <p:nvSpPr>
          <p:cNvPr id="13" name="文本框 12"/>
          <p:cNvSpPr txBox="1"/>
          <p:nvPr/>
        </p:nvSpPr>
        <p:spPr>
          <a:xfrm>
            <a:off x="9652635" y="597535"/>
            <a:ext cx="26352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*</a:t>
            </a:r>
            <a:endParaRPr lang="en-US" altLang="zh-CN"/>
          </a:p>
        </p:txBody>
      </p:sp>
      <p:sp>
        <p:nvSpPr>
          <p:cNvPr id="14" name="文本框 13"/>
          <p:cNvSpPr txBox="1"/>
          <p:nvPr/>
        </p:nvSpPr>
        <p:spPr>
          <a:xfrm>
            <a:off x="9298940" y="549910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4</a:t>
            </a:r>
            <a:endParaRPr lang="en-US" altLang="zh-CN"/>
          </a:p>
        </p:txBody>
      </p:sp>
      <p:sp>
        <p:nvSpPr>
          <p:cNvPr id="17" name="文本框 16"/>
          <p:cNvSpPr txBox="1"/>
          <p:nvPr/>
        </p:nvSpPr>
        <p:spPr>
          <a:xfrm>
            <a:off x="205105" y="151130"/>
            <a:ext cx="221996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000" b="1">
                <a:latin typeface="STHeiti Regular" panose="02010600040101010101" charset="-122"/>
                <a:ea typeface="STHeiti Regular" panose="02010600040101010101" charset="-122"/>
              </a:rPr>
              <a:t>后缀表达式的计算</a:t>
            </a:r>
            <a:endParaRPr lang="zh-CN" altLang="en-US" sz="2000" b="1">
              <a:latin typeface="STHeiti Regular" panose="02010600040101010101" charset="-122"/>
              <a:ea typeface="STHeiti Regular" panose="02010600040101010101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10630535" y="525145"/>
            <a:ext cx="32004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+</a:t>
            </a:r>
            <a:endParaRPr lang="en-US" altLang="zh-CN"/>
          </a:p>
        </p:txBody>
      </p:sp>
      <p:sp>
        <p:nvSpPr>
          <p:cNvPr id="19" name="文本框 18"/>
          <p:cNvSpPr txBox="1"/>
          <p:nvPr/>
        </p:nvSpPr>
        <p:spPr>
          <a:xfrm>
            <a:off x="10302875" y="544195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6</a:t>
            </a:r>
            <a:endParaRPr lang="en-US" altLang="zh-CN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矩形 3"/>
          <p:cNvSpPr/>
          <p:nvPr/>
        </p:nvSpPr>
        <p:spPr>
          <a:xfrm>
            <a:off x="4393565" y="2106295"/>
            <a:ext cx="1907540" cy="416941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 rot="5400000">
            <a:off x="9567545" y="-1096010"/>
            <a:ext cx="905510" cy="369824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5192395" y="5701665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2</a:t>
            </a:r>
            <a:endParaRPr lang="en-US" altLang="zh-CN"/>
          </a:p>
        </p:txBody>
      </p:sp>
      <p:sp>
        <p:nvSpPr>
          <p:cNvPr id="7" name="文本框 6"/>
          <p:cNvSpPr txBox="1"/>
          <p:nvPr/>
        </p:nvSpPr>
        <p:spPr>
          <a:xfrm>
            <a:off x="9963785" y="525145"/>
            <a:ext cx="32004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+</a:t>
            </a:r>
            <a:endParaRPr lang="en-US" altLang="zh-CN"/>
          </a:p>
        </p:txBody>
      </p:sp>
      <p:sp>
        <p:nvSpPr>
          <p:cNvPr id="9" name="文本框 8"/>
          <p:cNvSpPr txBox="1"/>
          <p:nvPr/>
        </p:nvSpPr>
        <p:spPr>
          <a:xfrm>
            <a:off x="8266430" y="568960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5</a:t>
            </a:r>
            <a:endParaRPr lang="en-US" altLang="zh-CN"/>
          </a:p>
        </p:txBody>
      </p:sp>
      <p:sp>
        <p:nvSpPr>
          <p:cNvPr id="10" name="文本框 9"/>
          <p:cNvSpPr txBox="1"/>
          <p:nvPr/>
        </p:nvSpPr>
        <p:spPr>
          <a:xfrm>
            <a:off x="9027160" y="549910"/>
            <a:ext cx="2717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-</a:t>
            </a:r>
            <a:endParaRPr lang="en-US" altLang="zh-CN"/>
          </a:p>
        </p:txBody>
      </p:sp>
      <p:sp>
        <p:nvSpPr>
          <p:cNvPr id="11" name="文本框 10"/>
          <p:cNvSpPr txBox="1"/>
          <p:nvPr/>
        </p:nvSpPr>
        <p:spPr>
          <a:xfrm>
            <a:off x="8680450" y="553720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1</a:t>
            </a:r>
            <a:endParaRPr lang="en-US" altLang="zh-CN"/>
          </a:p>
        </p:txBody>
      </p:sp>
      <p:sp>
        <p:nvSpPr>
          <p:cNvPr id="13" name="文本框 12"/>
          <p:cNvSpPr txBox="1"/>
          <p:nvPr/>
        </p:nvSpPr>
        <p:spPr>
          <a:xfrm>
            <a:off x="9652635" y="597535"/>
            <a:ext cx="26352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*</a:t>
            </a:r>
            <a:endParaRPr lang="en-US" altLang="zh-CN"/>
          </a:p>
        </p:txBody>
      </p:sp>
      <p:sp>
        <p:nvSpPr>
          <p:cNvPr id="14" name="文本框 13"/>
          <p:cNvSpPr txBox="1"/>
          <p:nvPr/>
        </p:nvSpPr>
        <p:spPr>
          <a:xfrm>
            <a:off x="9298940" y="549910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4</a:t>
            </a:r>
            <a:endParaRPr lang="en-US" altLang="zh-CN"/>
          </a:p>
        </p:txBody>
      </p:sp>
      <p:sp>
        <p:nvSpPr>
          <p:cNvPr id="17" name="文本框 16"/>
          <p:cNvSpPr txBox="1"/>
          <p:nvPr/>
        </p:nvSpPr>
        <p:spPr>
          <a:xfrm>
            <a:off x="205105" y="151130"/>
            <a:ext cx="221996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000" b="1">
                <a:latin typeface="STHeiti Regular" panose="02010600040101010101" charset="-122"/>
                <a:ea typeface="STHeiti Regular" panose="02010600040101010101" charset="-122"/>
              </a:rPr>
              <a:t>后缀表达式的计算</a:t>
            </a:r>
            <a:endParaRPr lang="zh-CN" altLang="en-US" sz="2000" b="1">
              <a:latin typeface="STHeiti Regular" panose="02010600040101010101" charset="-122"/>
              <a:ea typeface="STHeiti Regular" panose="02010600040101010101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10630535" y="525145"/>
            <a:ext cx="32004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+</a:t>
            </a:r>
            <a:endParaRPr lang="en-US" altLang="zh-CN"/>
          </a:p>
        </p:txBody>
      </p:sp>
      <p:sp>
        <p:nvSpPr>
          <p:cNvPr id="19" name="文本框 18"/>
          <p:cNvSpPr txBox="1"/>
          <p:nvPr/>
        </p:nvSpPr>
        <p:spPr>
          <a:xfrm>
            <a:off x="10302875" y="544195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6</a:t>
            </a:r>
            <a:endParaRPr lang="en-US" altLang="zh-CN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矩形 3"/>
          <p:cNvSpPr/>
          <p:nvPr/>
        </p:nvSpPr>
        <p:spPr>
          <a:xfrm>
            <a:off x="4393565" y="2106295"/>
            <a:ext cx="1907540" cy="416941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 rot="5400000">
            <a:off x="9789160" y="-889635"/>
            <a:ext cx="905510" cy="3255645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5192395" y="5701665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2</a:t>
            </a:r>
            <a:endParaRPr lang="en-US" altLang="zh-CN"/>
          </a:p>
        </p:txBody>
      </p:sp>
      <p:sp>
        <p:nvSpPr>
          <p:cNvPr id="7" name="文本框 6"/>
          <p:cNvSpPr txBox="1"/>
          <p:nvPr/>
        </p:nvSpPr>
        <p:spPr>
          <a:xfrm>
            <a:off x="9963785" y="525145"/>
            <a:ext cx="32004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+</a:t>
            </a:r>
            <a:endParaRPr lang="en-US" altLang="zh-CN"/>
          </a:p>
        </p:txBody>
      </p:sp>
      <p:sp>
        <p:nvSpPr>
          <p:cNvPr id="9" name="文本框 8"/>
          <p:cNvSpPr txBox="1"/>
          <p:nvPr/>
        </p:nvSpPr>
        <p:spPr>
          <a:xfrm>
            <a:off x="5192395" y="5248910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5</a:t>
            </a:r>
            <a:endParaRPr lang="en-US" altLang="zh-CN"/>
          </a:p>
        </p:txBody>
      </p:sp>
      <p:sp>
        <p:nvSpPr>
          <p:cNvPr id="10" name="文本框 9"/>
          <p:cNvSpPr txBox="1"/>
          <p:nvPr/>
        </p:nvSpPr>
        <p:spPr>
          <a:xfrm>
            <a:off x="9027160" y="549910"/>
            <a:ext cx="2717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-</a:t>
            </a:r>
            <a:endParaRPr lang="en-US" altLang="zh-CN"/>
          </a:p>
        </p:txBody>
      </p:sp>
      <p:sp>
        <p:nvSpPr>
          <p:cNvPr id="11" name="文本框 10"/>
          <p:cNvSpPr txBox="1"/>
          <p:nvPr/>
        </p:nvSpPr>
        <p:spPr>
          <a:xfrm>
            <a:off x="8680450" y="553720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1</a:t>
            </a:r>
            <a:endParaRPr lang="en-US" altLang="zh-CN"/>
          </a:p>
        </p:txBody>
      </p:sp>
      <p:sp>
        <p:nvSpPr>
          <p:cNvPr id="13" name="文本框 12"/>
          <p:cNvSpPr txBox="1"/>
          <p:nvPr/>
        </p:nvSpPr>
        <p:spPr>
          <a:xfrm>
            <a:off x="9652635" y="597535"/>
            <a:ext cx="26352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*</a:t>
            </a:r>
            <a:endParaRPr lang="en-US" altLang="zh-CN"/>
          </a:p>
        </p:txBody>
      </p:sp>
      <p:sp>
        <p:nvSpPr>
          <p:cNvPr id="14" name="文本框 13"/>
          <p:cNvSpPr txBox="1"/>
          <p:nvPr/>
        </p:nvSpPr>
        <p:spPr>
          <a:xfrm>
            <a:off x="9298940" y="549910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4</a:t>
            </a:r>
            <a:endParaRPr lang="en-US" altLang="zh-CN"/>
          </a:p>
        </p:txBody>
      </p:sp>
      <p:sp>
        <p:nvSpPr>
          <p:cNvPr id="17" name="文本框 16"/>
          <p:cNvSpPr txBox="1"/>
          <p:nvPr/>
        </p:nvSpPr>
        <p:spPr>
          <a:xfrm>
            <a:off x="205105" y="151130"/>
            <a:ext cx="221996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000" b="1">
                <a:latin typeface="STHeiti Regular" panose="02010600040101010101" charset="-122"/>
                <a:ea typeface="STHeiti Regular" panose="02010600040101010101" charset="-122"/>
              </a:rPr>
              <a:t>后缀表达式的计算</a:t>
            </a:r>
            <a:endParaRPr lang="zh-CN" altLang="en-US" sz="2000" b="1">
              <a:latin typeface="STHeiti Regular" panose="02010600040101010101" charset="-122"/>
              <a:ea typeface="STHeiti Regular" panose="02010600040101010101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10630535" y="525145"/>
            <a:ext cx="32004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+</a:t>
            </a:r>
            <a:endParaRPr lang="en-US" altLang="zh-CN"/>
          </a:p>
        </p:txBody>
      </p:sp>
      <p:sp>
        <p:nvSpPr>
          <p:cNvPr id="19" name="文本框 18"/>
          <p:cNvSpPr txBox="1"/>
          <p:nvPr/>
        </p:nvSpPr>
        <p:spPr>
          <a:xfrm>
            <a:off x="10302875" y="544195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6</a:t>
            </a:r>
            <a:endParaRPr lang="en-US" altLang="zh-CN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矩形 3"/>
          <p:cNvSpPr/>
          <p:nvPr/>
        </p:nvSpPr>
        <p:spPr>
          <a:xfrm>
            <a:off x="4393565" y="2106295"/>
            <a:ext cx="1907540" cy="416941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 rot="5400000">
            <a:off x="9957435" y="-721360"/>
            <a:ext cx="905510" cy="2919095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5192395" y="5701665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2</a:t>
            </a:r>
            <a:endParaRPr lang="en-US" altLang="zh-CN"/>
          </a:p>
        </p:txBody>
      </p:sp>
      <p:sp>
        <p:nvSpPr>
          <p:cNvPr id="7" name="文本框 6"/>
          <p:cNvSpPr txBox="1"/>
          <p:nvPr/>
        </p:nvSpPr>
        <p:spPr>
          <a:xfrm>
            <a:off x="9963785" y="525145"/>
            <a:ext cx="32004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+</a:t>
            </a:r>
            <a:endParaRPr lang="en-US" altLang="zh-CN"/>
          </a:p>
        </p:txBody>
      </p:sp>
      <p:sp>
        <p:nvSpPr>
          <p:cNvPr id="9" name="文本框 8"/>
          <p:cNvSpPr txBox="1"/>
          <p:nvPr/>
        </p:nvSpPr>
        <p:spPr>
          <a:xfrm>
            <a:off x="5192395" y="5248910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5</a:t>
            </a:r>
            <a:endParaRPr lang="en-US" altLang="zh-CN"/>
          </a:p>
        </p:txBody>
      </p:sp>
      <p:sp>
        <p:nvSpPr>
          <p:cNvPr id="10" name="文本框 9"/>
          <p:cNvSpPr txBox="1"/>
          <p:nvPr/>
        </p:nvSpPr>
        <p:spPr>
          <a:xfrm>
            <a:off x="9027160" y="549910"/>
            <a:ext cx="2717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-</a:t>
            </a:r>
            <a:endParaRPr lang="en-US" altLang="zh-CN"/>
          </a:p>
        </p:txBody>
      </p:sp>
      <p:sp>
        <p:nvSpPr>
          <p:cNvPr id="11" name="文本框 10"/>
          <p:cNvSpPr txBox="1"/>
          <p:nvPr/>
        </p:nvSpPr>
        <p:spPr>
          <a:xfrm>
            <a:off x="5192395" y="4752340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1</a:t>
            </a:r>
            <a:endParaRPr lang="en-US" altLang="zh-CN"/>
          </a:p>
        </p:txBody>
      </p:sp>
      <p:sp>
        <p:nvSpPr>
          <p:cNvPr id="13" name="文本框 12"/>
          <p:cNvSpPr txBox="1"/>
          <p:nvPr/>
        </p:nvSpPr>
        <p:spPr>
          <a:xfrm>
            <a:off x="9652635" y="597535"/>
            <a:ext cx="26352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*</a:t>
            </a:r>
            <a:endParaRPr lang="en-US" altLang="zh-CN"/>
          </a:p>
        </p:txBody>
      </p:sp>
      <p:sp>
        <p:nvSpPr>
          <p:cNvPr id="14" name="文本框 13"/>
          <p:cNvSpPr txBox="1"/>
          <p:nvPr/>
        </p:nvSpPr>
        <p:spPr>
          <a:xfrm>
            <a:off x="9298940" y="549910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4</a:t>
            </a:r>
            <a:endParaRPr lang="en-US" altLang="zh-CN"/>
          </a:p>
        </p:txBody>
      </p:sp>
      <p:sp>
        <p:nvSpPr>
          <p:cNvPr id="17" name="文本框 16"/>
          <p:cNvSpPr txBox="1"/>
          <p:nvPr/>
        </p:nvSpPr>
        <p:spPr>
          <a:xfrm>
            <a:off x="205105" y="151130"/>
            <a:ext cx="221996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000" b="1">
                <a:latin typeface="STHeiti Regular" panose="02010600040101010101" charset="-122"/>
                <a:ea typeface="STHeiti Regular" panose="02010600040101010101" charset="-122"/>
              </a:rPr>
              <a:t>后缀表达式的计算</a:t>
            </a:r>
            <a:endParaRPr lang="zh-CN" altLang="en-US" sz="2000" b="1">
              <a:latin typeface="STHeiti Regular" panose="02010600040101010101" charset="-122"/>
              <a:ea typeface="STHeiti Regular" panose="02010600040101010101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10630535" y="525145"/>
            <a:ext cx="32004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+</a:t>
            </a:r>
            <a:endParaRPr lang="en-US" altLang="zh-CN"/>
          </a:p>
        </p:txBody>
      </p:sp>
      <p:sp>
        <p:nvSpPr>
          <p:cNvPr id="19" name="文本框 18"/>
          <p:cNvSpPr txBox="1"/>
          <p:nvPr/>
        </p:nvSpPr>
        <p:spPr>
          <a:xfrm>
            <a:off x="10302875" y="544195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6</a:t>
            </a:r>
            <a:endParaRPr lang="en-US" altLang="zh-CN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矩形 3"/>
          <p:cNvSpPr/>
          <p:nvPr/>
        </p:nvSpPr>
        <p:spPr>
          <a:xfrm>
            <a:off x="4393565" y="2106295"/>
            <a:ext cx="1907540" cy="416941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 rot="5400000">
            <a:off x="10155555" y="-574675"/>
            <a:ext cx="905510" cy="261747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5192395" y="5701665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2</a:t>
            </a:r>
            <a:endParaRPr lang="en-US" altLang="zh-CN"/>
          </a:p>
        </p:txBody>
      </p:sp>
      <p:sp>
        <p:nvSpPr>
          <p:cNvPr id="7" name="文本框 6"/>
          <p:cNvSpPr txBox="1"/>
          <p:nvPr/>
        </p:nvSpPr>
        <p:spPr>
          <a:xfrm>
            <a:off x="9963785" y="525145"/>
            <a:ext cx="32004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+</a:t>
            </a:r>
            <a:endParaRPr lang="en-US" altLang="zh-CN"/>
          </a:p>
        </p:txBody>
      </p:sp>
      <p:sp>
        <p:nvSpPr>
          <p:cNvPr id="9" name="文本框 8"/>
          <p:cNvSpPr txBox="1"/>
          <p:nvPr/>
        </p:nvSpPr>
        <p:spPr>
          <a:xfrm>
            <a:off x="4681855" y="1541780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5</a:t>
            </a:r>
            <a:endParaRPr lang="en-US" altLang="zh-CN"/>
          </a:p>
        </p:txBody>
      </p:sp>
      <p:sp>
        <p:nvSpPr>
          <p:cNvPr id="10" name="文本框 9"/>
          <p:cNvSpPr txBox="1"/>
          <p:nvPr/>
        </p:nvSpPr>
        <p:spPr>
          <a:xfrm>
            <a:off x="4920615" y="1531620"/>
            <a:ext cx="2717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-</a:t>
            </a:r>
            <a:endParaRPr lang="en-US" altLang="zh-CN"/>
          </a:p>
        </p:txBody>
      </p:sp>
      <p:sp>
        <p:nvSpPr>
          <p:cNvPr id="11" name="文本框 10"/>
          <p:cNvSpPr txBox="1"/>
          <p:nvPr/>
        </p:nvSpPr>
        <p:spPr>
          <a:xfrm>
            <a:off x="5115560" y="1531620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1</a:t>
            </a:r>
            <a:endParaRPr lang="en-US" altLang="zh-CN"/>
          </a:p>
        </p:txBody>
      </p:sp>
      <p:sp>
        <p:nvSpPr>
          <p:cNvPr id="13" name="文本框 12"/>
          <p:cNvSpPr txBox="1"/>
          <p:nvPr/>
        </p:nvSpPr>
        <p:spPr>
          <a:xfrm>
            <a:off x="9652635" y="597535"/>
            <a:ext cx="26352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*</a:t>
            </a:r>
            <a:endParaRPr lang="en-US" altLang="zh-CN"/>
          </a:p>
        </p:txBody>
      </p:sp>
      <p:sp>
        <p:nvSpPr>
          <p:cNvPr id="14" name="文本框 13"/>
          <p:cNvSpPr txBox="1"/>
          <p:nvPr/>
        </p:nvSpPr>
        <p:spPr>
          <a:xfrm>
            <a:off x="9298940" y="549910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4</a:t>
            </a:r>
            <a:endParaRPr lang="en-US" altLang="zh-CN"/>
          </a:p>
        </p:txBody>
      </p:sp>
      <p:sp>
        <p:nvSpPr>
          <p:cNvPr id="17" name="文本框 16"/>
          <p:cNvSpPr txBox="1"/>
          <p:nvPr/>
        </p:nvSpPr>
        <p:spPr>
          <a:xfrm>
            <a:off x="205105" y="151130"/>
            <a:ext cx="221996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000" b="1">
                <a:latin typeface="STHeiti Regular" panose="02010600040101010101" charset="-122"/>
                <a:ea typeface="STHeiti Regular" panose="02010600040101010101" charset="-122"/>
              </a:rPr>
              <a:t>后缀表达式的计算</a:t>
            </a:r>
            <a:endParaRPr lang="zh-CN" altLang="en-US" sz="2000" b="1">
              <a:latin typeface="STHeiti Regular" panose="02010600040101010101" charset="-122"/>
              <a:ea typeface="STHeiti Regular" panose="02010600040101010101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10630535" y="525145"/>
            <a:ext cx="32004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+</a:t>
            </a:r>
            <a:endParaRPr lang="en-US" altLang="zh-CN"/>
          </a:p>
        </p:txBody>
      </p:sp>
      <p:sp>
        <p:nvSpPr>
          <p:cNvPr id="19" name="文本框 18"/>
          <p:cNvSpPr txBox="1"/>
          <p:nvPr/>
        </p:nvSpPr>
        <p:spPr>
          <a:xfrm>
            <a:off x="10302875" y="544195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6</a:t>
            </a:r>
            <a:endParaRPr lang="en-US" altLang="zh-CN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矩形 3"/>
          <p:cNvSpPr/>
          <p:nvPr/>
        </p:nvSpPr>
        <p:spPr>
          <a:xfrm>
            <a:off x="4393565" y="2106295"/>
            <a:ext cx="1907540" cy="416941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 rot="5400000">
            <a:off x="10155555" y="-574675"/>
            <a:ext cx="905510" cy="261747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5192395" y="5701665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2</a:t>
            </a:r>
            <a:endParaRPr lang="en-US" altLang="zh-CN"/>
          </a:p>
        </p:txBody>
      </p:sp>
      <p:sp>
        <p:nvSpPr>
          <p:cNvPr id="7" name="文本框 6"/>
          <p:cNvSpPr txBox="1"/>
          <p:nvPr/>
        </p:nvSpPr>
        <p:spPr>
          <a:xfrm>
            <a:off x="9963785" y="525145"/>
            <a:ext cx="32004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+</a:t>
            </a:r>
            <a:endParaRPr lang="en-US" altLang="zh-CN"/>
          </a:p>
        </p:txBody>
      </p:sp>
      <p:sp>
        <p:nvSpPr>
          <p:cNvPr id="13" name="文本框 12"/>
          <p:cNvSpPr txBox="1"/>
          <p:nvPr/>
        </p:nvSpPr>
        <p:spPr>
          <a:xfrm>
            <a:off x="9652635" y="597535"/>
            <a:ext cx="26352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*</a:t>
            </a:r>
            <a:endParaRPr lang="en-US" altLang="zh-CN"/>
          </a:p>
        </p:txBody>
      </p:sp>
      <p:sp>
        <p:nvSpPr>
          <p:cNvPr id="14" name="文本框 13"/>
          <p:cNvSpPr txBox="1"/>
          <p:nvPr/>
        </p:nvSpPr>
        <p:spPr>
          <a:xfrm>
            <a:off x="9298940" y="549910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4</a:t>
            </a:r>
            <a:endParaRPr lang="en-US" altLang="zh-CN"/>
          </a:p>
        </p:txBody>
      </p:sp>
      <p:sp>
        <p:nvSpPr>
          <p:cNvPr id="17" name="文本框 16"/>
          <p:cNvSpPr txBox="1"/>
          <p:nvPr/>
        </p:nvSpPr>
        <p:spPr>
          <a:xfrm>
            <a:off x="205105" y="151130"/>
            <a:ext cx="221996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000" b="1">
                <a:latin typeface="STHeiti Regular" panose="02010600040101010101" charset="-122"/>
                <a:ea typeface="STHeiti Regular" panose="02010600040101010101" charset="-122"/>
              </a:rPr>
              <a:t>后缀表达式的计算</a:t>
            </a:r>
            <a:endParaRPr lang="zh-CN" altLang="en-US" sz="2000" b="1">
              <a:latin typeface="STHeiti Regular" panose="02010600040101010101" charset="-122"/>
              <a:ea typeface="STHeiti Regular" panose="02010600040101010101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10630535" y="525145"/>
            <a:ext cx="32004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+</a:t>
            </a:r>
            <a:endParaRPr lang="en-US" altLang="zh-CN"/>
          </a:p>
        </p:txBody>
      </p:sp>
      <p:sp>
        <p:nvSpPr>
          <p:cNvPr id="19" name="文本框 18"/>
          <p:cNvSpPr txBox="1"/>
          <p:nvPr/>
        </p:nvSpPr>
        <p:spPr>
          <a:xfrm>
            <a:off x="10302875" y="544195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6</a:t>
            </a:r>
            <a:endParaRPr lang="en-US" altLang="zh-CN"/>
          </a:p>
        </p:txBody>
      </p:sp>
      <p:sp>
        <p:nvSpPr>
          <p:cNvPr id="2" name="文本框 1"/>
          <p:cNvSpPr txBox="1"/>
          <p:nvPr/>
        </p:nvSpPr>
        <p:spPr>
          <a:xfrm>
            <a:off x="5192395" y="5333365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4</a:t>
            </a:r>
            <a:endParaRPr lang="en-US" altLang="zh-CN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矩形 3"/>
          <p:cNvSpPr/>
          <p:nvPr/>
        </p:nvSpPr>
        <p:spPr>
          <a:xfrm>
            <a:off x="4393565" y="2106295"/>
            <a:ext cx="1907540" cy="416941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 rot="5400000">
            <a:off x="10319385" y="-416560"/>
            <a:ext cx="905510" cy="2290445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5192395" y="5701665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2</a:t>
            </a:r>
            <a:endParaRPr lang="en-US" altLang="zh-CN"/>
          </a:p>
        </p:txBody>
      </p:sp>
      <p:sp>
        <p:nvSpPr>
          <p:cNvPr id="7" name="文本框 6"/>
          <p:cNvSpPr txBox="1"/>
          <p:nvPr/>
        </p:nvSpPr>
        <p:spPr>
          <a:xfrm>
            <a:off x="9963785" y="525145"/>
            <a:ext cx="32004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+</a:t>
            </a:r>
            <a:endParaRPr lang="en-US" altLang="zh-CN"/>
          </a:p>
        </p:txBody>
      </p:sp>
      <p:sp>
        <p:nvSpPr>
          <p:cNvPr id="13" name="文本框 12"/>
          <p:cNvSpPr txBox="1"/>
          <p:nvPr/>
        </p:nvSpPr>
        <p:spPr>
          <a:xfrm>
            <a:off x="9652635" y="597535"/>
            <a:ext cx="26352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*</a:t>
            </a:r>
            <a:endParaRPr lang="en-US" altLang="zh-CN"/>
          </a:p>
        </p:txBody>
      </p:sp>
      <p:sp>
        <p:nvSpPr>
          <p:cNvPr id="14" name="文本框 13"/>
          <p:cNvSpPr txBox="1"/>
          <p:nvPr/>
        </p:nvSpPr>
        <p:spPr>
          <a:xfrm>
            <a:off x="5192395" y="4965065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4</a:t>
            </a:r>
            <a:endParaRPr lang="en-US" altLang="zh-CN"/>
          </a:p>
        </p:txBody>
      </p:sp>
      <p:sp>
        <p:nvSpPr>
          <p:cNvPr id="17" name="文本框 16"/>
          <p:cNvSpPr txBox="1"/>
          <p:nvPr/>
        </p:nvSpPr>
        <p:spPr>
          <a:xfrm>
            <a:off x="205105" y="151130"/>
            <a:ext cx="221996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000" b="1">
                <a:latin typeface="STHeiti Regular" panose="02010600040101010101" charset="-122"/>
                <a:ea typeface="STHeiti Regular" panose="02010600040101010101" charset="-122"/>
              </a:rPr>
              <a:t>后缀表达式的计算</a:t>
            </a:r>
            <a:endParaRPr lang="zh-CN" altLang="en-US" sz="2000" b="1">
              <a:latin typeface="STHeiti Regular" panose="02010600040101010101" charset="-122"/>
              <a:ea typeface="STHeiti Regular" panose="02010600040101010101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10630535" y="525145"/>
            <a:ext cx="32004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+</a:t>
            </a:r>
            <a:endParaRPr lang="en-US" altLang="zh-CN"/>
          </a:p>
        </p:txBody>
      </p:sp>
      <p:sp>
        <p:nvSpPr>
          <p:cNvPr id="19" name="文本框 18"/>
          <p:cNvSpPr txBox="1"/>
          <p:nvPr/>
        </p:nvSpPr>
        <p:spPr>
          <a:xfrm>
            <a:off x="10302875" y="544195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6</a:t>
            </a:r>
            <a:endParaRPr lang="en-US" altLang="zh-CN"/>
          </a:p>
        </p:txBody>
      </p:sp>
      <p:sp>
        <p:nvSpPr>
          <p:cNvPr id="2" name="文本框 1"/>
          <p:cNvSpPr txBox="1"/>
          <p:nvPr/>
        </p:nvSpPr>
        <p:spPr>
          <a:xfrm>
            <a:off x="5192395" y="5333365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4</a:t>
            </a:r>
            <a:endParaRPr lang="en-US" altLang="zh-CN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矩形 3"/>
          <p:cNvSpPr/>
          <p:nvPr/>
        </p:nvSpPr>
        <p:spPr>
          <a:xfrm>
            <a:off x="4393565" y="2106295"/>
            <a:ext cx="1907540" cy="416941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 rot="5400000">
            <a:off x="10488295" y="-247650"/>
            <a:ext cx="905510" cy="195326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5192395" y="5701665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2</a:t>
            </a:r>
            <a:endParaRPr lang="en-US" altLang="zh-CN"/>
          </a:p>
        </p:txBody>
      </p:sp>
      <p:sp>
        <p:nvSpPr>
          <p:cNvPr id="7" name="文本框 6"/>
          <p:cNvSpPr txBox="1"/>
          <p:nvPr/>
        </p:nvSpPr>
        <p:spPr>
          <a:xfrm>
            <a:off x="9963785" y="525145"/>
            <a:ext cx="32004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+</a:t>
            </a:r>
            <a:endParaRPr lang="en-US" altLang="zh-CN"/>
          </a:p>
        </p:txBody>
      </p:sp>
      <p:sp>
        <p:nvSpPr>
          <p:cNvPr id="17" name="文本框 16"/>
          <p:cNvSpPr txBox="1"/>
          <p:nvPr/>
        </p:nvSpPr>
        <p:spPr>
          <a:xfrm>
            <a:off x="205105" y="151130"/>
            <a:ext cx="221996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000" b="1">
                <a:latin typeface="STHeiti Regular" panose="02010600040101010101" charset="-122"/>
                <a:ea typeface="STHeiti Regular" panose="02010600040101010101" charset="-122"/>
              </a:rPr>
              <a:t>后缀表达式的计算</a:t>
            </a:r>
            <a:endParaRPr lang="zh-CN" altLang="en-US" sz="2000" b="1">
              <a:latin typeface="STHeiti Regular" panose="02010600040101010101" charset="-122"/>
              <a:ea typeface="STHeiti Regular" panose="02010600040101010101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10630535" y="525145"/>
            <a:ext cx="32004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+</a:t>
            </a:r>
            <a:endParaRPr lang="en-US" altLang="zh-CN"/>
          </a:p>
        </p:txBody>
      </p:sp>
      <p:sp>
        <p:nvSpPr>
          <p:cNvPr id="19" name="文本框 18"/>
          <p:cNvSpPr txBox="1"/>
          <p:nvPr/>
        </p:nvSpPr>
        <p:spPr>
          <a:xfrm>
            <a:off x="10302875" y="544195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6</a:t>
            </a:r>
            <a:endParaRPr lang="en-US" altLang="zh-CN"/>
          </a:p>
        </p:txBody>
      </p:sp>
      <p:sp>
        <p:nvSpPr>
          <p:cNvPr id="2" name="文本框 1"/>
          <p:cNvSpPr txBox="1"/>
          <p:nvPr/>
        </p:nvSpPr>
        <p:spPr>
          <a:xfrm>
            <a:off x="5109845" y="5333365"/>
            <a:ext cx="436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16</a:t>
            </a:r>
            <a:endParaRPr lang="en-US" altLang="zh-CN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矩形 3"/>
          <p:cNvSpPr/>
          <p:nvPr/>
        </p:nvSpPr>
        <p:spPr>
          <a:xfrm>
            <a:off x="4393565" y="2106295"/>
            <a:ext cx="1907540" cy="416941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 rot="5400000">
            <a:off x="10657840" y="-78740"/>
            <a:ext cx="905510" cy="1614805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205105" y="151130"/>
            <a:ext cx="221996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000" b="1">
                <a:latin typeface="STHeiti Regular" panose="02010600040101010101" charset="-122"/>
                <a:ea typeface="STHeiti Regular" panose="02010600040101010101" charset="-122"/>
              </a:rPr>
              <a:t>后缀表达式的计算</a:t>
            </a:r>
            <a:endParaRPr lang="zh-CN" altLang="en-US" sz="2000" b="1">
              <a:latin typeface="STHeiti Regular" panose="02010600040101010101" charset="-122"/>
              <a:ea typeface="STHeiti Regular" panose="02010600040101010101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10630535" y="525145"/>
            <a:ext cx="32004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+</a:t>
            </a:r>
            <a:endParaRPr lang="en-US" altLang="zh-CN"/>
          </a:p>
        </p:txBody>
      </p:sp>
      <p:sp>
        <p:nvSpPr>
          <p:cNvPr id="19" name="文本框 18"/>
          <p:cNvSpPr txBox="1"/>
          <p:nvPr/>
        </p:nvSpPr>
        <p:spPr>
          <a:xfrm>
            <a:off x="10302875" y="544195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6</a:t>
            </a:r>
            <a:endParaRPr lang="en-US" altLang="zh-CN"/>
          </a:p>
        </p:txBody>
      </p:sp>
      <p:sp>
        <p:nvSpPr>
          <p:cNvPr id="2" name="文本框 1"/>
          <p:cNvSpPr txBox="1"/>
          <p:nvPr/>
        </p:nvSpPr>
        <p:spPr>
          <a:xfrm>
            <a:off x="5128895" y="5728335"/>
            <a:ext cx="436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18</a:t>
            </a:r>
            <a:endParaRPr lang="en-US" altLang="zh-CN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矩形 3"/>
          <p:cNvSpPr/>
          <p:nvPr/>
        </p:nvSpPr>
        <p:spPr>
          <a:xfrm>
            <a:off x="4393565" y="2106295"/>
            <a:ext cx="1907540" cy="416941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 rot="5400000">
            <a:off x="10787380" y="50800"/>
            <a:ext cx="905510" cy="1355725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205105" y="151130"/>
            <a:ext cx="221996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000" b="1">
                <a:latin typeface="STHeiti Regular" panose="02010600040101010101" charset="-122"/>
                <a:ea typeface="STHeiti Regular" panose="02010600040101010101" charset="-122"/>
              </a:rPr>
              <a:t>后缀表达式的计算</a:t>
            </a:r>
            <a:endParaRPr lang="zh-CN" altLang="en-US" sz="2000" b="1">
              <a:latin typeface="STHeiti Regular" panose="02010600040101010101" charset="-122"/>
              <a:ea typeface="STHeiti Regular" panose="02010600040101010101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10630535" y="525145"/>
            <a:ext cx="32004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+</a:t>
            </a:r>
            <a:endParaRPr lang="en-US" altLang="zh-CN"/>
          </a:p>
        </p:txBody>
      </p:sp>
      <p:sp>
        <p:nvSpPr>
          <p:cNvPr id="19" name="文本框 18"/>
          <p:cNvSpPr txBox="1"/>
          <p:nvPr/>
        </p:nvSpPr>
        <p:spPr>
          <a:xfrm>
            <a:off x="5192395" y="5360035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6</a:t>
            </a:r>
            <a:endParaRPr lang="en-US" altLang="zh-CN"/>
          </a:p>
        </p:txBody>
      </p:sp>
      <p:sp>
        <p:nvSpPr>
          <p:cNvPr id="2" name="文本框 1"/>
          <p:cNvSpPr txBox="1"/>
          <p:nvPr/>
        </p:nvSpPr>
        <p:spPr>
          <a:xfrm>
            <a:off x="5128895" y="5728335"/>
            <a:ext cx="436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18</a:t>
            </a:r>
            <a:endParaRPr lang="en-US" altLang="zh-CN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矩形 3"/>
          <p:cNvSpPr/>
          <p:nvPr/>
        </p:nvSpPr>
        <p:spPr>
          <a:xfrm>
            <a:off x="4393565" y="2106295"/>
            <a:ext cx="1907540" cy="416941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205105" y="151130"/>
            <a:ext cx="221996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000" b="1">
                <a:latin typeface="STHeiti Regular" panose="02010600040101010101" charset="-122"/>
                <a:ea typeface="STHeiti Regular" panose="02010600040101010101" charset="-122"/>
              </a:rPr>
              <a:t>后缀表达式的计算</a:t>
            </a:r>
            <a:endParaRPr lang="zh-CN" altLang="en-US" sz="2000" b="1">
              <a:latin typeface="STHeiti Regular" panose="02010600040101010101" charset="-122"/>
              <a:ea typeface="STHeiti Regular" panose="02010600040101010101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128895" y="5728335"/>
            <a:ext cx="436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24</a:t>
            </a:r>
            <a:endParaRPr lang="en-US" altLang="zh-CN"/>
          </a:p>
        </p:txBody>
      </p:sp>
      <p:sp>
        <p:nvSpPr>
          <p:cNvPr id="3" name="文本框 2"/>
          <p:cNvSpPr txBox="1"/>
          <p:nvPr/>
        </p:nvSpPr>
        <p:spPr>
          <a:xfrm>
            <a:off x="6962140" y="4068445"/>
            <a:ext cx="188785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zh-CN" altLang="en-US">
                <a:sym typeface="+mn-ea"/>
              </a:rPr>
              <a:t>2 + (5 - 1) * 4 + 6</a:t>
            </a:r>
            <a:endParaRPr lang="zh-CN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618</Words>
  <Application>WPS 演示</Application>
  <PresentationFormat>宽屏</PresentationFormat>
  <Paragraphs>560</Paragraphs>
  <Slides>26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26</vt:i4>
      </vt:variant>
    </vt:vector>
  </HeadingPairs>
  <TitlesOfParts>
    <vt:vector size="43" baseType="lpstr">
      <vt:lpstr>Arial</vt:lpstr>
      <vt:lpstr>方正书宋_GBK</vt:lpstr>
      <vt:lpstr>Wingdings</vt:lpstr>
      <vt:lpstr>宋体</vt:lpstr>
      <vt:lpstr>Arial Unicode MS</vt:lpstr>
      <vt:lpstr>Calibri Light</vt:lpstr>
      <vt:lpstr>Helvetica Neue</vt:lpstr>
      <vt:lpstr>汉仪书宋二KW</vt:lpstr>
      <vt:lpstr>Calibri</vt:lpstr>
      <vt:lpstr>微软雅黑</vt:lpstr>
      <vt:lpstr>汉仪旗黑</vt:lpstr>
      <vt:lpstr>WPS-Numbers</vt:lpstr>
      <vt:lpstr>STHeiti Light</vt:lpstr>
      <vt:lpstr>Yuanti SC Regular</vt:lpstr>
      <vt:lpstr>华文楷体</vt:lpstr>
      <vt:lpstr>STHeiti Regular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hepeng</dc:creator>
  <cp:lastModifiedBy>hepeng</cp:lastModifiedBy>
  <cp:revision>4</cp:revision>
  <dcterms:created xsi:type="dcterms:W3CDTF">2020-12-29T12:37:45Z</dcterms:created>
  <dcterms:modified xsi:type="dcterms:W3CDTF">2020-12-29T12:37:45Z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2052-2.8.1.4670</vt:lpwstr>
  </property>
</Properties>
</file>